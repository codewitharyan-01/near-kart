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5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Quick-commerce GMV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C6C-44D0-A256-2A32471C2AA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C6C-44D0-A256-2A32471C2AA8}"/>
              </c:ext>
            </c:extLst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C6C-44D0-A256-2A32471C2AA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0A122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2026 (est.)</c:v>
                </c:pt>
                <c:pt idx="2">
                  <c:v>2030 (est.)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3.3</c:v>
                </c:pt>
                <c:pt idx="1">
                  <c:v>9.5</c:v>
                </c:pt>
                <c:pt idx="2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C6C-44D0-A256-2A32471C2AA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3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6F8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886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SSIP idea presentation. Introduce yourself: Aryan Patel, Computer Engineering, ENO 240753107021, guided by Dr. Anil Suthar (Principal). One line: NearKart delivers from your local kirana in 15-30 minutes - no dark 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around the dark-store model: it wins on speed but displaces local shops, loses money per order, and is opaque for shops and riders.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architectural idea: not four separate apps, but one live order engine shared by four views. This is what makes the demo feel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path: add to cart, watch the free-delivery bar, apply coupon NEAR25, checkout COD or demo UPI, then track with OTP.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path: accept the incoming order inside 2 minutes, watch stock auto-deduct, mark packed, then show the payout ledger breakdown.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Rider: job card shows distance and payout before accepting. Admin: verification queues, disputes with liability matrix,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this QR over during Q&amp;A or a poster. All four role apps are one click away; everything runs on the shared live order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implemented in src/lib/algorithms.ts and all observable in the demo. This is the moat: local supply orchestrated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shown line-by-line in the demo: shop payout ledger has 7% commission and 1% GST TCS. Delivery fee free above 299 drives AOV.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numbers are from RedSeer and public investor disclosures; projections are labelled as estimates. The strategic point: aggregating existing kiranas has near-zero capex per 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about what is simulated in the demo vs what production adds. The pilot is one Ahmedabad locality with 10-20 shops.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one-liner: Blinkit speed, kirana soul, zero dark stores. Offer the QR for a live walkthrough.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ryan/Downloads/1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896112" cy="11155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72768" y="5669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BAPU GUJARAT KNOWLEDGE VILLAGE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572768" y="8412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B7C8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SSIP IDEA PRESENTATION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87452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NearKart</a:t>
            </a:r>
            <a:endParaRPr lang="en-US" sz="6800" dirty="0"/>
          </a:p>
        </p:txBody>
      </p:sp>
      <p:sp>
        <p:nvSpPr>
          <p:cNvPr id="6" name="Text 3"/>
          <p:cNvSpPr/>
          <p:nvPr/>
        </p:nvSpPr>
        <p:spPr>
          <a:xfrm>
            <a:off x="548640" y="3017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local shops, delivered fast.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36118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hyperlocal quick-commerce platform that turns neighbourhood stores into micro-fulfilment centres — 15–30-minute delivery, zero warehouses.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46177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Aryan Patel</a:t>
            </a:r>
            <a:r>
              <a:rPr lang="en-US" sz="14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Computer Engineering · ENO 240753107021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by 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Dr. Anil Suthar</a:t>
            </a:r>
            <a:r>
              <a:rPr lang="en-US" sz="14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Principal</a:t>
            </a:r>
            <a:endParaRPr lang="en-US" sz="1600" dirty="0"/>
          </a:p>
        </p:txBody>
      </p:sp>
      <p:pic>
        <p:nvPicPr>
          <p:cNvPr id="9" name="Image 1" descr="C:/Users/Aryan/Desktop/Nearcart/docs_build/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1554480"/>
            <a:ext cx="2148840" cy="21488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89720" y="3794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8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try the live demo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9189720" y="405993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near-kart-iota.vercel.app</a:t>
            </a:r>
            <a:endParaRPr lang="en-US" sz="1050" dirty="0"/>
          </a:p>
        </p:txBody>
      </p:sp>
      <p:pic>
        <p:nvPicPr>
          <p:cNvPr id="12" name="Image 2" descr="C:/Users/Aryan/Downloads/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70448"/>
            <a:ext cx="12188952" cy="1024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commerce boomed — but the neighbourhood paid for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1719072"/>
            <a:ext cx="5989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Dark stores displace kiranas.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 like Blinkit &amp; Zepto rent warehouses inside residential areas and stock only ~2,000 high-margin SKUs — local shops lose customers to a network they can't join.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64408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25880" y="3200400"/>
            <a:ext cx="5989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economics are broken.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rent, deep discounts and delivery subsidies mean most quick-commerce orders lose money; the cost is pushed back as fees on customers and commissions on shops.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74573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25880" y="4681728"/>
            <a:ext cx="5989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Everyone else is in the dark.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Shops lose direct contact with their customers, riders can't see their payout before accepting a job, and 10-minute promises break when stock or distance is unforgiving.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818120" y="1417320"/>
            <a:ext cx="3822192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92440" y="1536192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3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12–13M</a:t>
            </a:r>
            <a:endParaRPr lang="en-US" sz="3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kirana stores in India — </a:t>
            </a:r>
            <a:r>
              <a:rPr lang="en-US" sz="12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 than 5% meaningfully digitised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7818120" y="3044952"/>
            <a:ext cx="3822192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92440" y="3163824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3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~2,000</a:t>
            </a:r>
            <a:endParaRPr lang="en-US" sz="3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SKUs per dark store — </a:t>
            </a:r>
            <a:r>
              <a:rPr lang="en-US" sz="12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fraction of a real neighbourhood's depth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818120" y="4672584"/>
            <a:ext cx="3822192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92440" y="4791456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3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₹0</a:t>
            </a:r>
            <a:endParaRPr lang="en-US" sz="3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typical profit per order — </a:t>
            </a:r>
            <a:r>
              <a:rPr lang="en-US" sz="12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 is funded by burning investor cash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IBEF retail reports; RedSeer quick-commerce research; company unit-economics disclosures.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NearKart: the neighbourhood becomes the warehouse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“Dark stores rent your neighbourhood. NearKart lives in it.”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5146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514600"/>
            <a:ext cx="475488" cy="47548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1272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App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77240" y="345643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groceries from nearby verified shops in 15–30 min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035808" y="30632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10712" y="2286000"/>
            <a:ext cx="25146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9312" y="2514600"/>
            <a:ext cx="475488" cy="47548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9312" y="31272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 Dashboard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639312" y="345643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Accepts in a 2-minute window; stock deducts automatically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97880" y="30632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25146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2514600"/>
            <a:ext cx="475488" cy="47548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01384" y="31272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Rider App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501384" y="345643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 job cards, OTP pickup &amp; delivery, instant payout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759952" y="30632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134856" y="2286000"/>
            <a:ext cx="25146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63456" y="2514600"/>
            <a:ext cx="475488" cy="47548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9363456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363456" y="31272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Console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363456" y="345643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ops, verification queues, disputes &amp; analytics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892040"/>
            <a:ext cx="11091672" cy="1143000"/>
          </a:xfrm>
          <a:prstGeom prst="roundRect">
            <a:avLst>
              <a:gd name="adj" fmla="val 7200"/>
            </a:avLst>
          </a:prstGeom>
          <a:solidFill>
            <a:srgbClr val="E7F5EF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50292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shared live order engine.  </a:t>
            </a:r>
            <a:r>
              <a:rPr lang="en-US" sz="1350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four modules run on a single state machine — an order placed on the customer app appears in the shop dashboard, routes to a rider, and lands in the admin feed in real time, even across browser tabs.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1 · CUSTOMER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to doorstep, built on honest nudges</a:t>
            </a:r>
            <a:endParaRPr lang="en-US" sz="3000" dirty="0"/>
          </a:p>
        </p:txBody>
      </p:sp>
      <p:pic>
        <p:nvPicPr>
          <p:cNvPr id="4" name="Image 0" descr="C:/Users/Aryan/Desktop/Nearcart/docs_build/shots/custo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572768"/>
            <a:ext cx="6656832" cy="4160520"/>
          </a:xfrm>
          <a:prstGeom prst="rect">
            <a:avLst/>
          </a:prstGeom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4983480" y="5806440"/>
            <a:ext cx="665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app — Satellite, Ahmedabad. 8 shops · 90+ products in the demo catalogue.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783080"/>
            <a:ext cx="4206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ranking.  </a:t>
            </a:r>
            <a:r>
              <a:rPr lang="en-US" sz="13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Shops ordered by rating, distance, speed &amp; reliability.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2624328"/>
            <a:ext cx="4206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basket building.  </a:t>
            </a:r>
            <a:r>
              <a:rPr lang="en-US" sz="13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₹100 minimum with a free-delivery progress bar.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48640" y="3465576"/>
            <a:ext cx="4206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tracking.  </a:t>
            </a:r>
            <a:r>
              <a:rPr lang="en-US" sz="13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 timeline with rider OTP verification.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4306824"/>
            <a:ext cx="4206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Loyalty that sticks.  </a:t>
            </a:r>
            <a:r>
              <a:rPr lang="en-US" sz="13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NearCoins, daily streaks and ₹50 referrals.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5148072"/>
            <a:ext cx="4206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urgency only.  </a:t>
            </a:r>
            <a:r>
              <a:rPr lang="en-US" sz="13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“Only 3 left” comes from actual live stock.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2 · SHOP OWNER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kirana gets a quick-commerce cockpit</a:t>
            </a:r>
            <a:endParaRPr lang="en-US" sz="3000" dirty="0"/>
          </a:p>
        </p:txBody>
      </p:sp>
      <p:pic>
        <p:nvPicPr>
          <p:cNvPr id="4" name="Image 0" descr="C:/Users/Aryan/Desktop/Nearcart/docs_build/shots/sh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6656832" cy="4160520"/>
          </a:xfrm>
          <a:prstGeom prst="rect">
            <a:avLst/>
          </a:prstGeom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806440"/>
            <a:ext cx="665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 dashboard — live orders, stock alerts and payouts at a glance.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52360" y="1783080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2-minute accept timer.  </a:t>
            </a:r>
            <a:r>
              <a:rPr lang="en-US" sz="13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auto-accept guard that protects ratings.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452360" y="2624328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automation.  </a:t>
            </a:r>
            <a:r>
              <a:rPr lang="en-US" sz="13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 deducts stock; cancel restores it; zero auto-hides.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452360" y="3465576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 payouts.  </a:t>
            </a:r>
            <a:r>
              <a:rPr lang="en-US" sz="13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7% commission + GST TCS, shown line by line.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52360" y="4306824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Offers manager.  </a:t>
            </a:r>
            <a:r>
              <a:rPr lang="en-US" sz="13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Coupons and sponsored placement with performance data.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452360" y="5148072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Availability control.  </a:t>
            </a:r>
            <a:r>
              <a:rPr lang="en-US" sz="13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/ Busy / Offline in one tap.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MODULES 3 &amp; 4 · RIDER AND 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side of the marketplace, in one engine</a:t>
            </a:r>
            <a:endParaRPr lang="en-US" sz="3000" dirty="0"/>
          </a:p>
        </p:txBody>
      </p:sp>
      <p:pic>
        <p:nvPicPr>
          <p:cNvPr id="4" name="Image 0" descr="C:/Users/Aryan/Desktop/Nearcart/docs_build/shots/r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5394960" cy="3374136"/>
          </a:xfrm>
          <a:prstGeom prst="rect">
            <a:avLst/>
          </a:prstGeom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13892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Rider app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544068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Payout shown before accepting (₹20 base + ₹2.5/km + ₹7 peak + 100% tips), OTP-verified trips, photo proof, daily goal bonuses and instant payout.</a:t>
            </a:r>
            <a:endParaRPr lang="en-US" sz="1150" dirty="0"/>
          </a:p>
        </p:txBody>
      </p:sp>
      <p:pic>
        <p:nvPicPr>
          <p:cNvPr id="7" name="Image 1" descr="C:/Users/Aryan/Desktop/Nearcart/docs_build/shots/ad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91640"/>
            <a:ext cx="5285232" cy="3300984"/>
          </a:xfrm>
          <a:prstGeom prst="rect">
            <a:avLst/>
          </a:prstGeom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6355080" y="513892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console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355080" y="5440680"/>
            <a:ext cx="5285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deck with live ops feed, shop &amp; rider verification queues, dispute centre with a liability matrix, demand forecast and zone×hour heatmaps.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 LIVE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apps. One order. Real time.</a:t>
            </a:r>
            <a:endParaRPr lang="en-US" sz="3200" dirty="0"/>
          </a:p>
        </p:txBody>
      </p:sp>
      <p:pic>
        <p:nvPicPr>
          <p:cNvPr id="4" name="Image 0" descr="C:/Users/Aryan/Desktop/Nearcart/docs_build/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965960"/>
            <a:ext cx="3017520" cy="3017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074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8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near-kart-iota.vercel.app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5394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Deployed on Vercel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846320" y="1965960"/>
            <a:ext cx="67665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2230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166360" y="205740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near-kart-iota.vercel.app</a:t>
            </a:r>
            <a:r>
              <a:rPr lang="en-US" sz="15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/customer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44000" y="203911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browse, cart &amp; track an order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846320" y="2898648"/>
            <a:ext cx="67665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22304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66360" y="299008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near-kart-iota.vercel.app</a:t>
            </a:r>
            <a:r>
              <a:rPr lang="en-US" sz="15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/shop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144000" y="2971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 owner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accept, pack &amp; manage inventory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846320" y="3831336"/>
            <a:ext cx="67665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2230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166360" y="392277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near-kart-iota.vercel.app</a:t>
            </a:r>
            <a:r>
              <a:rPr lang="en-US" sz="15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/rider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9144000" y="390448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Rider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 jobs, OTP delivery, earnings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46320" y="4764024"/>
            <a:ext cx="67665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22304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166360" y="485546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near-kart-iota.vercel.app</a:t>
            </a:r>
            <a:r>
              <a:rPr lang="en-US" sz="15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144000" y="483717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 console, disputes, analytics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846320" y="58521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move: open Customer and Shop in two tabs — the order syncs live via cross-tab storage events.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INTELLIGENCE LAYER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Algorithms that make a local network feel like a giant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9659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04672" y="23500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 ranking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697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0.30 rating + 0.25 proximity + 0.20 speed + 0.15 reliability + 0.10 demand — boosted for sponsored, damped when busy.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7830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9659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81144" y="23500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ETA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81144" y="2697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 + 3.2 × distance + supply buffer, clamped to 12–38 min. No fake 10-minute promises.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01584" y="17830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57616" y="19659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57616" y="23500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Rider matching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357616" y="2697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 × 12 + acceptance × 0.1 − 3 × distance-to-shop, over online riders only.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04672" y="45902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Fraud engine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04672" y="4937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 value bands + new customer + radius + cancellations → normal / watch / review.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25112" y="40233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81144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81144" y="45902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 forecast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581144" y="4937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hour-of-day curve predicts next-hour orders; flags surge when jobs exceed riders by 20%.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01584" y="40233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57616" y="4206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357616" y="45902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automation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357616" y="4937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 → deduct; cancel → restore; zero → auto-hide; repeated unavailability → pause + alert.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six run live in the demo — observable in discovery ordering, checkout ETAs, rider job cards, and the admin forecast banner.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revenue streams on a single order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420624" cy="420624"/>
          </a:xfrm>
          <a:prstGeom prst="ellipse">
            <a:avLst/>
          </a:prstGeom>
          <a:solidFill>
            <a:srgbClr val="E7F5E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 commission  —  </a:t>
            </a:r>
            <a:r>
              <a:rPr lang="en-US" sz="13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7% per order + 1% GST TCS in the ledger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1188720" y="2395728"/>
            <a:ext cx="5486400" cy="0"/>
          </a:xfrm>
          <a:prstGeom prst="line">
            <a:avLst/>
          </a:prstGeom>
          <a:noFill/>
          <a:ln w="12700">
            <a:solidFill>
              <a:srgbClr val="E3E9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42032"/>
            <a:ext cx="420624" cy="420624"/>
          </a:xfrm>
          <a:prstGeom prst="ellipse">
            <a:avLst/>
          </a:prstGeom>
          <a:solidFill>
            <a:srgbClr val="E7F5E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248716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 fee  —  </a:t>
            </a:r>
            <a:r>
              <a:rPr lang="en-US" sz="13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₹25 · free above ₹299 to grow basket size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188720" y="3145536"/>
            <a:ext cx="5486400" cy="0"/>
          </a:xfrm>
          <a:prstGeom prst="line">
            <a:avLst/>
          </a:prstGeom>
          <a:noFill/>
          <a:ln w="12700">
            <a:solidFill>
              <a:srgbClr val="E3E9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91840"/>
            <a:ext cx="420624" cy="420624"/>
          </a:xfrm>
          <a:prstGeom prst="ellipse">
            <a:avLst/>
          </a:prstGeom>
          <a:solidFill>
            <a:srgbClr val="E7F5E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323697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 subscriptions  —  </a:t>
            </a:r>
            <a:r>
              <a:rPr lang="en-US" sz="13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₹299–₹999/month for pro tooling (Phase 2)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188720" y="3895344"/>
            <a:ext cx="5486400" cy="0"/>
          </a:xfrm>
          <a:prstGeom prst="line">
            <a:avLst/>
          </a:prstGeom>
          <a:noFill/>
          <a:ln w="12700">
            <a:solidFill>
              <a:srgbClr val="E3E9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041648"/>
            <a:ext cx="420624" cy="420624"/>
          </a:xfrm>
          <a:prstGeom prst="ellipse">
            <a:avLst/>
          </a:prstGeom>
          <a:solidFill>
            <a:srgbClr val="E7F5E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98678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Sponsored listings  —  </a:t>
            </a:r>
            <a:r>
              <a:rPr lang="en-US" sz="13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shops bid for discovery, labelled “Promoted”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1188720" y="4645152"/>
            <a:ext cx="5486400" cy="0"/>
          </a:xfrm>
          <a:prstGeom prst="line">
            <a:avLst/>
          </a:prstGeom>
          <a:noFill/>
          <a:ln w="12700">
            <a:solidFill>
              <a:srgbClr val="E3E9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791456"/>
            <a:ext cx="420624" cy="420624"/>
          </a:xfrm>
          <a:prstGeom prst="ellipse">
            <a:avLst/>
          </a:prstGeom>
          <a:solidFill>
            <a:srgbClr val="E7F5E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473659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White-label storefronts  —  </a:t>
            </a:r>
            <a:r>
              <a:rPr lang="en-US" sz="13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shops sell on WhatsApp over NearKart rails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5486400" cy="0"/>
          </a:xfrm>
          <a:prstGeom prst="line">
            <a:avLst/>
          </a:prstGeom>
          <a:noFill/>
          <a:ln w="12700">
            <a:solidFill>
              <a:srgbClr val="E3E9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541264"/>
            <a:ext cx="420624" cy="420624"/>
          </a:xfrm>
          <a:prstGeom prst="ellipse">
            <a:avLst/>
          </a:prstGeom>
          <a:solidFill>
            <a:srgbClr val="E7F5E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88720" y="54864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Ads &amp; insights  —  </a:t>
            </a:r>
            <a:r>
              <a:rPr lang="en-US" sz="13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demand &amp; zone analytics post-density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406640" y="1737360"/>
            <a:ext cx="4206240" cy="4343400"/>
          </a:xfrm>
          <a:prstGeom prst="roundRect">
            <a:avLst>
              <a:gd name="adj" fmla="val 1957"/>
            </a:avLst>
          </a:prstGeom>
          <a:solidFill>
            <a:srgbClr val="0B111E"/>
          </a:solidFill>
          <a:ln/>
        </p:spPr>
      </p:sp>
      <p:sp>
        <p:nvSpPr>
          <p:cNvPr id="22" name="Text 20"/>
          <p:cNvSpPr/>
          <p:nvPr/>
        </p:nvSpPr>
        <p:spPr>
          <a:xfrm>
            <a:off x="7726680" y="1965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cross-side flywheel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726680" y="2450592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121A2B"/>
          </a:solidFill>
          <a:ln w="12700">
            <a:solidFill>
              <a:srgbClr val="2230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09560" y="245059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</a:t>
            </a:r>
            <a:r>
              <a:rPr lang="en-US" sz="1300" b="1" dirty="0">
                <a:solidFill>
                  <a:srgbClr val="F6F8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local shops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26680" y="3118104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121A2B"/>
          </a:solidFill>
          <a:ln w="12700">
            <a:solidFill>
              <a:srgbClr val="2230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09560" y="31181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</a:t>
            </a:r>
            <a:r>
              <a:rPr lang="en-US" sz="1300" b="1" dirty="0">
                <a:solidFill>
                  <a:srgbClr val="F6F8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Wider inventory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26680" y="3785616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121A2B"/>
          </a:solidFill>
          <a:ln w="12700">
            <a:solidFill>
              <a:srgbClr val="22304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09560" y="378561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</a:t>
            </a:r>
            <a:r>
              <a:rPr lang="en-US" sz="1300" b="1" dirty="0">
                <a:solidFill>
                  <a:srgbClr val="F6F8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customers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26680" y="4453128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121A2B"/>
          </a:solidFill>
          <a:ln w="12700">
            <a:solidFill>
              <a:srgbClr val="2230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09560" y="445312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</a:t>
            </a:r>
            <a:r>
              <a:rPr lang="en-US" sz="1300" b="1" dirty="0">
                <a:solidFill>
                  <a:srgbClr val="F6F8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rider earnings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726680" y="5120640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121A2B"/>
          </a:solidFill>
          <a:ln w="12700">
            <a:solidFill>
              <a:srgbClr val="2230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09560" y="512064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</a:t>
            </a:r>
            <a:r>
              <a:rPr lang="en-US" sz="1300" b="1" dirty="0">
                <a:solidFill>
                  <a:srgbClr val="F6F8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Faster delivery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26680" y="577900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…which onboards more shops. NearCoins, streaks and referrals keep the customer side spinning.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SURVEY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$30–40B market — and an untouched supply side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 quick-commerce GMV (US$ billion)</a:t>
            </a:r>
            <a:endParaRPr lang="en-US" sz="14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194560"/>
          <a:ext cx="64008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RedSeer Consulting, industry estimates — 2026/2030 figures are projections.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406640" y="1783080"/>
            <a:ext cx="420624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680960" y="1892808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~35–40% CAGR</a:t>
            </a:r>
            <a:endParaRPr lang="en-US" sz="17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commerce is the fastest-growing slice of Indian e-grocery — expanding 4–5× faster than conventional e-commerce.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7406640" y="3264408"/>
            <a:ext cx="420624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680960" y="3374136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12–13M kiranas</a:t>
            </a:r>
            <a:endParaRPr lang="en-US" sz="17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handle 85–90% of FMCG sales — yet fewer than 5% participate in any delivery platform.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406640" y="4745736"/>
            <a:ext cx="4206240" cy="1298448"/>
          </a:xfrm>
          <a:prstGeom prst="roundRect">
            <a:avLst>
              <a:gd name="adj" fmla="val 5634"/>
            </a:avLst>
          </a:prstGeom>
          <a:solidFill>
            <a:srgbClr val="E7F5EF"/>
          </a:solidFill>
          <a:ln w="12700">
            <a:solidFill>
              <a:srgbClr val="E3E9EE"/>
            </a:solidFill>
            <a:prstDash val="solid"/>
          </a:ln>
          <a:effectLst>
            <a:outerShdw blurRad="114300" dist="38100" dir="2700000" algn="bl" rotWithShape="0">
              <a:srgbClr val="0A1220">
                <a:alpha val="2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680960" y="4855464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7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dark-store players fight over metro pin codes; tier-2 and non-metro neighbourhoods are underserved. NearKart aggregates existing shops — near-zero capex per store.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on a modern stack — production-ready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92324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83080"/>
            <a:ext cx="25923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16 (App Router)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42132" y="1783080"/>
            <a:ext cx="134416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42132" y="1783080"/>
            <a:ext cx="1344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87468" y="1783080"/>
            <a:ext cx="182422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87468" y="1783080"/>
            <a:ext cx="18242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 v4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12864" y="1783080"/>
            <a:ext cx="278434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12864" y="1783080"/>
            <a:ext cx="27843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Zustand live order engine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98380" y="1783080"/>
            <a:ext cx="1632204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98380" y="1783080"/>
            <a:ext cx="16322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Framer Motion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731752" y="1783080"/>
            <a:ext cx="1152144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31752" y="1783080"/>
            <a:ext cx="1152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Recharts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3085064" y="1783080"/>
            <a:ext cx="2112264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85064" y="1783080"/>
            <a:ext cx="2112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Deployed on Vercel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697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demo to district — the path forward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" y="3429000"/>
            <a:ext cx="2286000" cy="0"/>
          </a:xfrm>
          <a:prstGeom prst="line">
            <a:avLst/>
          </a:prstGeom>
          <a:noFill/>
          <a:ln w="25400">
            <a:solidFill>
              <a:srgbClr val="C9D4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" y="3291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5568" y="34290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1–2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886200"/>
            <a:ext cx="2514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backend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+ Prisma, NestJS order &amp; inventory services, Redis + BullMQ state machine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685032" y="3429000"/>
            <a:ext cx="2286000" cy="0"/>
          </a:xfrm>
          <a:prstGeom prst="line">
            <a:avLst/>
          </a:prstGeom>
          <a:noFill/>
          <a:ln w="25400">
            <a:solidFill>
              <a:srgbClr val="C9D4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93008" y="3291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6" name="Text 24"/>
          <p:cNvSpPr/>
          <p:nvPr/>
        </p:nvSpPr>
        <p:spPr>
          <a:xfrm>
            <a:off x="3493008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77640" y="3383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2–4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10712" y="3886200"/>
            <a:ext cx="2514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infrastructure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Razorpay/Cashfree payments, Google Maps/MapmyIndia, WhatsApp &amp; SMS notifications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665735" y="3414562"/>
            <a:ext cx="2286000" cy="0"/>
          </a:xfrm>
          <a:prstGeom prst="line">
            <a:avLst/>
          </a:prstGeom>
          <a:noFill/>
          <a:ln w="25400">
            <a:solidFill>
              <a:srgbClr val="C9D4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55080" y="3291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635508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39712" y="34046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4–6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72784" y="3886200"/>
            <a:ext cx="2514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Ahmedabad pilot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10–20 shops in one locality, rider onboarding, GST TCS &amp; FSSAI compliance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409176" y="3404616"/>
            <a:ext cx="2286000" cy="0"/>
          </a:xfrm>
          <a:prstGeom prst="line">
            <a:avLst/>
          </a:prstGeom>
          <a:noFill/>
          <a:ln w="25400">
            <a:solidFill>
              <a:srgbClr val="C9D4D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17152" y="3291840"/>
            <a:ext cx="384048" cy="38404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6" name="Text 34"/>
          <p:cNvSpPr/>
          <p:nvPr/>
        </p:nvSpPr>
        <p:spPr>
          <a:xfrm>
            <a:off x="9217152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701784" y="3381195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 6+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134856" y="3886200"/>
            <a:ext cx="2514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0A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Rider batching, demand forecasting on real data, POS integrations, white-label storefronts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4864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Simulated in the demo (payments, OTPs, maps) are exactly the layers the roadmap makes real.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ryan/Downloads/1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896112" cy="11155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9202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you.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548640" y="2971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NearKart — </a:t>
            </a:r>
            <a:r>
              <a:rPr lang="en-US" sz="2000" dirty="0">
                <a:solidFill>
                  <a:srgbClr val="F6F8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local shops, delivered fast.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37947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Aryan Patel</a:t>
            </a:r>
            <a:r>
              <a:rPr lang="en-US" sz="14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Computer Engineering · ENO 240753107021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by 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Dr. Anil Suthar</a:t>
            </a:r>
            <a:r>
              <a:rPr lang="en-US" sz="14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Principal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9FB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aryan04102001@gmail.com  ·  near-kart-iota.vercel.app</a:t>
            </a:r>
            <a:endParaRPr lang="en-US" sz="1600" dirty="0"/>
          </a:p>
        </p:txBody>
      </p:sp>
      <p:pic>
        <p:nvPicPr>
          <p:cNvPr id="6" name="Image 1" descr="C:/Users/Aryan/Desktop/Nearcart/docs_build/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1920240"/>
            <a:ext cx="2148840" cy="2148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89720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8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the live demo</a:t>
            </a:r>
            <a:endParaRPr lang="en-US" sz="1200" dirty="0"/>
          </a:p>
        </p:txBody>
      </p:sp>
      <p:pic>
        <p:nvPicPr>
          <p:cNvPr id="8" name="Image 2" descr="C:/Users/Aryan/Downloads/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70448"/>
            <a:ext cx="12188952" cy="1024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1662</Words>
  <Application>Microsoft Office PowerPoint</Application>
  <PresentationFormat>Widescreen</PresentationFormat>
  <Paragraphs>204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NearKart — Hyperlocal Quick-Commerce Platform</dc:title>
  <dc:subject>PptxGenJS Presentation</dc:subject>
  <dc:creator>Aryan Patel</dc:creator>
  <cp:lastModifiedBy>Aryan A Patel</cp:lastModifiedBy>
  <cp:revision>2</cp:revision>
  <dcterms:created xsi:type="dcterms:W3CDTF">2026-10-03T04:29:56Z</dcterms:created>
  <dcterms:modified xsi:type="dcterms:W3CDTF">2026-10-03T04:33:58Z</dcterms:modified>
</cp:coreProperties>
</file>