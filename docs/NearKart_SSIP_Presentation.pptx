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24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83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5650" y="490854"/>
            <a:ext cx="10046970" cy="2493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55650" y="3608070"/>
            <a:ext cx="9635490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45" dirty="0"/>
              <a:t>20/07/21 </a:t>
            </a:r>
            <a:r>
              <a:rPr spc="85" dirty="0"/>
              <a:t>15:36:10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Trebuchet MS"/>
                <a:cs typeface="Trebuchet MS"/>
              </a:defRPr>
            </a:lvl1pPr>
          </a:lstStyle>
          <a:p>
            <a:pPr marL="10985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85" dirty="0"/>
              <a:t>‹#›</a:t>
            </a:fld>
            <a:endParaRPr spc="8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45" dirty="0"/>
              <a:t>20/07/21 </a:t>
            </a:r>
            <a:r>
              <a:rPr spc="85" dirty="0"/>
              <a:t>15:36:10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Trebuchet MS"/>
                <a:cs typeface="Trebuchet MS"/>
              </a:defRPr>
            </a:lvl1pPr>
          </a:lstStyle>
          <a:p>
            <a:pPr marL="10985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85" dirty="0"/>
              <a:t>‹#›</a:t>
            </a:fld>
            <a:endParaRPr spc="8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45" dirty="0"/>
              <a:t>20/07/21 </a:t>
            </a:r>
            <a:r>
              <a:rPr spc="85" dirty="0"/>
              <a:t>15:36:10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Trebuchet MS"/>
                <a:cs typeface="Trebuchet MS"/>
              </a:defRPr>
            </a:lvl1pPr>
          </a:lstStyle>
          <a:p>
            <a:pPr marL="10985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85" dirty="0"/>
              <a:t>‹#›</a:t>
            </a:fld>
            <a:endParaRPr spc="8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45" dirty="0"/>
              <a:t>20/07/21 </a:t>
            </a:r>
            <a:r>
              <a:rPr spc="85" dirty="0"/>
              <a:t>15:36:10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Trebuchet MS"/>
                <a:cs typeface="Trebuchet MS"/>
              </a:defRPr>
            </a:lvl1pPr>
          </a:lstStyle>
          <a:p>
            <a:pPr marL="10985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85" dirty="0"/>
              <a:t>‹#›</a:t>
            </a:fld>
            <a:endParaRPr spc="8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45" dirty="0"/>
              <a:t>20/07/21 </a:t>
            </a:r>
            <a:r>
              <a:rPr spc="85" dirty="0"/>
              <a:t>15:36:10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Trebuchet MS"/>
                <a:cs typeface="Trebuchet MS"/>
              </a:defRPr>
            </a:lvl1pPr>
          </a:lstStyle>
          <a:p>
            <a:pPr marL="10985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85" dirty="0"/>
              <a:t>‹#›</a:t>
            </a:fld>
            <a:endParaRPr spc="85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4930" y="497840"/>
            <a:ext cx="950213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09700" y="1506855"/>
            <a:ext cx="9174480" cy="3670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8340" y="6446029"/>
            <a:ext cx="1450339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A8A8A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45" dirty="0"/>
              <a:t>20/07/21 </a:t>
            </a:r>
            <a:r>
              <a:rPr spc="85" dirty="0"/>
              <a:t>15:36:10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82680" y="6446029"/>
            <a:ext cx="258445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A8A8A"/>
                </a:solidFill>
                <a:latin typeface="Trebuchet MS"/>
                <a:cs typeface="Trebuchet MS"/>
              </a:defRPr>
            </a:lvl1pPr>
          </a:lstStyle>
          <a:p>
            <a:pPr marL="10985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85" dirty="0"/>
              <a:t>‹#›</a:t>
            </a:fld>
            <a:endParaRPr spc="8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5960" y="1714224"/>
            <a:ext cx="8229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>
                <a:latin typeface="Arial"/>
              </a:rPr>
              <a:t>NearKart – Your Local Shops, Delivered Fast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463040" y="3276600"/>
            <a:ext cx="4206240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6700"/>
              </a:lnSpc>
              <a:spcBef>
                <a:spcPts val="100"/>
              </a:spcBef>
            </a:pPr>
            <a:r>
              <a:rPr sz="2400" b="1">
                <a:latin typeface="Arial"/>
              </a:rPr>
              <a:t>Team Members :</a:t>
            </a:r>
            <a:endParaRPr sz="2400" dirty="0">
              <a:latin typeface="Trebuchet MS"/>
              <a:cs typeface="Trebuchet MS"/>
            </a:endParaRPr>
          </a:p>
          <a:p>
            <a:pPr marL="12065" marR="5080" algn="ctr">
              <a:lnSpc>
                <a:spcPct val="116700"/>
              </a:lnSpc>
              <a:spcBef>
                <a:spcPts val="100"/>
              </a:spcBef>
            </a:pPr>
            <a:r>
              <a:rPr sz="2200" b="0">
                <a:latin typeface="Arial"/>
              </a:rPr>
              <a:t>Team Leader : Aryan Patel</a:t>
            </a:r>
          </a:p>
          <a:p>
            <a:pPr marL="12065" marR="5080" algn="ctr">
              <a:lnSpc>
                <a:spcPct val="116700"/>
              </a:lnSpc>
              <a:spcBef>
                <a:spcPts val="100"/>
              </a:spcBef>
            </a:pPr>
            <a:r>
              <a:rPr sz="2200" b="0">
                <a:latin typeface="Arial"/>
              </a:rPr>
              <a:t>Computer Engineering</a:t>
            </a:r>
          </a:p>
          <a:p>
            <a:pPr marL="12065" marR="5080" algn="ctr">
              <a:lnSpc>
                <a:spcPct val="116700"/>
              </a:lnSpc>
              <a:spcBef>
                <a:spcPts val="100"/>
              </a:spcBef>
            </a:pPr>
            <a:r>
              <a:rPr sz="2200" b="0">
                <a:latin typeface="Arial"/>
              </a:rPr>
              <a:t>ENO : 240753107021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48729" y="3704590"/>
            <a:ext cx="45593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70815" algn="ctr">
              <a:lnSpc>
                <a:spcPct val="100000"/>
              </a:lnSpc>
              <a:spcBef>
                <a:spcPts val="100"/>
              </a:spcBef>
            </a:pPr>
            <a:r>
              <a:rPr sz="2400" b="1">
                <a:latin typeface="Arial"/>
              </a:rPr>
              <a:t>Mentor :</a:t>
            </a:r>
            <a:endParaRPr sz="2400" dirty="0">
              <a:latin typeface="Trebuchet MS"/>
              <a:cs typeface="Trebuchet MS"/>
            </a:endParaRPr>
          </a:p>
          <a:p>
            <a:pPr marR="170815" algn="ctr">
              <a:lnSpc>
                <a:spcPct val="100000"/>
              </a:lnSpc>
              <a:spcBef>
                <a:spcPts val="100"/>
              </a:spcBef>
            </a:pPr>
            <a:r>
              <a:rPr sz="2400" b="0">
                <a:latin typeface="Arial"/>
              </a:rPr>
              <a:t>Dr. Anil Suthar</a:t>
            </a:r>
          </a:p>
          <a:p>
            <a:pPr marR="170815" algn="ctr">
              <a:lnSpc>
                <a:spcPct val="100000"/>
              </a:lnSpc>
              <a:spcBef>
                <a:spcPts val="100"/>
              </a:spcBef>
            </a:pPr>
            <a:r>
              <a:rPr sz="2400" b="0">
                <a:latin typeface="Arial"/>
              </a:rPr>
              <a:t>Principal</a:t>
            </a:r>
          </a:p>
          <a:p>
            <a:pPr marR="170815" algn="ctr">
              <a:lnSpc>
                <a:spcPct val="100000"/>
              </a:lnSpc>
              <a:spcBef>
                <a:spcPts val="100"/>
              </a:spcBef>
            </a:pPr>
            <a:r>
              <a:rPr sz="2000" b="0">
                <a:latin typeface="Arial"/>
              </a:rPr>
              <a:t>Bapu Gujarat Knowledge Village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257409" y="5796435"/>
            <a:ext cx="9650620" cy="1001154"/>
            <a:chOff x="2458" y="5805053"/>
            <a:chExt cx="9650620" cy="100115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1654" y="5860673"/>
              <a:ext cx="2149509" cy="889915"/>
            </a:xfrm>
            <a:prstGeom prst="rect">
              <a:avLst/>
            </a:prstGeom>
            <a:noFill/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5281" y="5828661"/>
              <a:ext cx="977234" cy="953939"/>
            </a:xfrm>
            <a:prstGeom prst="rect">
              <a:avLst/>
            </a:prstGeom>
            <a:noFill/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652" r="17289"/>
            <a:stretch/>
          </p:blipFill>
          <p:spPr>
            <a:xfrm>
              <a:off x="5445469" y="5805053"/>
              <a:ext cx="1045506" cy="1001154"/>
            </a:xfrm>
            <a:prstGeom prst="rect">
              <a:avLst/>
            </a:prstGeom>
            <a:noFill/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8" y="5868596"/>
              <a:ext cx="3184890" cy="874068"/>
            </a:xfrm>
            <a:prstGeom prst="rect">
              <a:avLst/>
            </a:prstGeom>
            <a:noFill/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6822" y="5937659"/>
              <a:ext cx="2076256" cy="735943"/>
            </a:xfrm>
            <a:prstGeom prst="rect">
              <a:avLst/>
            </a:prstGeom>
          </p:spPr>
        </p:pic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95666"/>
            <a:ext cx="1171742" cy="1458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85" dirty="0"/>
              <a:t>3</a:t>
            </a:fld>
            <a:endParaRPr spc="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8245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1350" y="1311402"/>
            <a:ext cx="7378700" cy="49301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82575" indent="-26987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82575" algn="l"/>
              </a:tabLst>
            </a:pPr>
            <a:r>
              <a:rPr sz="2500" spc="114" dirty="0">
                <a:latin typeface="Trebuchet MS"/>
                <a:cs typeface="Trebuchet MS"/>
              </a:rPr>
              <a:t>Team</a:t>
            </a:r>
            <a:r>
              <a:rPr sz="2500" spc="70" dirty="0">
                <a:latin typeface="Trebuchet MS"/>
                <a:cs typeface="Trebuchet MS"/>
              </a:rPr>
              <a:t> </a:t>
            </a:r>
            <a:r>
              <a:rPr sz="2500" spc="125" dirty="0">
                <a:latin typeface="Trebuchet MS"/>
                <a:cs typeface="Trebuchet MS"/>
              </a:rPr>
              <a:t>formation</a:t>
            </a:r>
            <a:endParaRPr sz="2500">
              <a:latin typeface="Trebuchet MS"/>
              <a:cs typeface="Trebuchet MS"/>
            </a:endParaRPr>
          </a:p>
          <a:p>
            <a:pPr marL="282575" indent="-269875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282575" algn="l"/>
              </a:tabLst>
            </a:pPr>
            <a:r>
              <a:rPr sz="2500" spc="95" dirty="0">
                <a:latin typeface="Trebuchet MS"/>
                <a:cs typeface="Trebuchet MS"/>
              </a:rPr>
              <a:t>Brief</a:t>
            </a:r>
            <a:r>
              <a:rPr sz="2500" spc="80" dirty="0">
                <a:latin typeface="Trebuchet MS"/>
                <a:cs typeface="Trebuchet MS"/>
              </a:rPr>
              <a:t> </a:t>
            </a:r>
            <a:r>
              <a:rPr sz="2500" spc="145" dirty="0">
                <a:latin typeface="Trebuchet MS"/>
                <a:cs typeface="Trebuchet MS"/>
              </a:rPr>
              <a:t>Description</a:t>
            </a:r>
            <a:endParaRPr sz="2500">
              <a:latin typeface="Trebuchet MS"/>
              <a:cs typeface="Trebuchet MS"/>
            </a:endParaRPr>
          </a:p>
          <a:p>
            <a:pPr marL="282575" indent="-26987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82575" algn="l"/>
              </a:tabLst>
            </a:pPr>
            <a:r>
              <a:rPr sz="2500" spc="140" dirty="0">
                <a:latin typeface="Trebuchet MS"/>
                <a:cs typeface="Trebuchet MS"/>
              </a:rPr>
              <a:t>Value</a:t>
            </a:r>
            <a:r>
              <a:rPr sz="2500" spc="55" dirty="0">
                <a:latin typeface="Trebuchet MS"/>
                <a:cs typeface="Trebuchet MS"/>
              </a:rPr>
              <a:t> </a:t>
            </a:r>
            <a:r>
              <a:rPr sz="2500" spc="114" dirty="0">
                <a:latin typeface="Trebuchet MS"/>
                <a:cs typeface="Trebuchet MS"/>
              </a:rPr>
              <a:t>Proposition</a:t>
            </a:r>
            <a:endParaRPr sz="2500">
              <a:latin typeface="Trebuchet MS"/>
              <a:cs typeface="Trebuchet MS"/>
            </a:endParaRPr>
          </a:p>
          <a:p>
            <a:pPr marL="282575" indent="-269875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282575" algn="l"/>
              </a:tabLst>
            </a:pPr>
            <a:r>
              <a:rPr sz="2500" spc="160" dirty="0">
                <a:latin typeface="Trebuchet MS"/>
                <a:cs typeface="Trebuchet MS"/>
              </a:rPr>
              <a:t>Market</a:t>
            </a:r>
            <a:r>
              <a:rPr sz="2500" spc="75" dirty="0">
                <a:latin typeface="Trebuchet MS"/>
                <a:cs typeface="Trebuchet MS"/>
              </a:rPr>
              <a:t> </a:t>
            </a:r>
            <a:r>
              <a:rPr sz="2500" spc="220" dirty="0">
                <a:latin typeface="Trebuchet MS"/>
                <a:cs typeface="Trebuchet MS"/>
              </a:rPr>
              <a:t>Survey</a:t>
            </a:r>
            <a:endParaRPr sz="2500">
              <a:latin typeface="Trebuchet MS"/>
              <a:cs typeface="Trebuchet MS"/>
            </a:endParaRPr>
          </a:p>
          <a:p>
            <a:pPr marL="282575" indent="-26987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82575" algn="l"/>
              </a:tabLst>
            </a:pPr>
            <a:r>
              <a:rPr sz="2500" spc="175" dirty="0">
                <a:latin typeface="Trebuchet MS"/>
                <a:cs typeface="Trebuchet MS"/>
              </a:rPr>
              <a:t>Proposed</a:t>
            </a:r>
            <a:r>
              <a:rPr sz="2500" spc="65" dirty="0">
                <a:latin typeface="Trebuchet MS"/>
                <a:cs typeface="Trebuchet MS"/>
              </a:rPr>
              <a:t> </a:t>
            </a:r>
            <a:r>
              <a:rPr sz="2500" spc="145" dirty="0">
                <a:latin typeface="Trebuchet MS"/>
                <a:cs typeface="Trebuchet MS"/>
              </a:rPr>
              <a:t>Solution</a:t>
            </a:r>
            <a:endParaRPr sz="2500">
              <a:latin typeface="Trebuchet MS"/>
              <a:cs typeface="Trebuchet MS"/>
            </a:endParaRPr>
          </a:p>
          <a:p>
            <a:pPr marL="282575" indent="-26987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82575" algn="l"/>
              </a:tabLst>
            </a:pPr>
            <a:r>
              <a:rPr sz="2500" spc="165" dirty="0">
                <a:latin typeface="Trebuchet MS"/>
                <a:cs typeface="Trebuchet MS"/>
              </a:rPr>
              <a:t>Innovation</a:t>
            </a:r>
            <a:r>
              <a:rPr sz="2500" spc="50" dirty="0">
                <a:latin typeface="Trebuchet MS"/>
                <a:cs typeface="Trebuchet MS"/>
              </a:rPr>
              <a:t> </a:t>
            </a:r>
            <a:r>
              <a:rPr sz="2500" spc="215" dirty="0">
                <a:latin typeface="Trebuchet MS"/>
                <a:cs typeface="Trebuchet MS"/>
              </a:rPr>
              <a:t>Component</a:t>
            </a:r>
            <a:r>
              <a:rPr sz="2500" spc="60" dirty="0">
                <a:latin typeface="Trebuchet MS"/>
                <a:cs typeface="Trebuchet MS"/>
              </a:rPr>
              <a:t> </a:t>
            </a:r>
            <a:r>
              <a:rPr sz="2500" spc="110" dirty="0">
                <a:latin typeface="Trebuchet MS"/>
                <a:cs typeface="Trebuchet MS"/>
              </a:rPr>
              <a:t>in</a:t>
            </a:r>
            <a:r>
              <a:rPr sz="2500" spc="60" dirty="0">
                <a:latin typeface="Trebuchet MS"/>
                <a:cs typeface="Trebuchet MS"/>
              </a:rPr>
              <a:t> </a:t>
            </a:r>
            <a:r>
              <a:rPr sz="2500" spc="175" dirty="0">
                <a:latin typeface="Trebuchet MS"/>
                <a:cs typeface="Trebuchet MS"/>
              </a:rPr>
              <a:t>Proposed</a:t>
            </a:r>
            <a:r>
              <a:rPr sz="2500" spc="65" dirty="0">
                <a:latin typeface="Trebuchet MS"/>
                <a:cs typeface="Trebuchet MS"/>
              </a:rPr>
              <a:t> </a:t>
            </a:r>
            <a:r>
              <a:rPr sz="2500" spc="140" dirty="0">
                <a:latin typeface="Trebuchet MS"/>
                <a:cs typeface="Trebuchet MS"/>
              </a:rPr>
              <a:t>Solution</a:t>
            </a:r>
            <a:endParaRPr sz="2500">
              <a:latin typeface="Trebuchet MS"/>
              <a:cs typeface="Trebuchet MS"/>
            </a:endParaRPr>
          </a:p>
          <a:p>
            <a:pPr marL="374650">
              <a:lnSpc>
                <a:spcPct val="100000"/>
              </a:lnSpc>
              <a:spcBef>
                <a:spcPts val="470"/>
              </a:spcBef>
            </a:pPr>
            <a:r>
              <a:rPr sz="3300" baseline="3787" dirty="0">
                <a:latin typeface="Arial MT"/>
                <a:cs typeface="Arial MT"/>
              </a:rPr>
              <a:t>–</a:t>
            </a:r>
            <a:r>
              <a:rPr sz="3300" spc="-97" baseline="3787" dirty="0">
                <a:latin typeface="Arial MT"/>
                <a:cs typeface="Arial MT"/>
              </a:rPr>
              <a:t> </a:t>
            </a:r>
            <a:r>
              <a:rPr sz="2200" spc="100" dirty="0">
                <a:latin typeface="Trebuchet MS"/>
                <a:cs typeface="Trebuchet MS"/>
              </a:rPr>
              <a:t>Patentable</a:t>
            </a:r>
            <a:r>
              <a:rPr sz="2200" spc="60" dirty="0">
                <a:latin typeface="Trebuchet MS"/>
                <a:cs typeface="Trebuchet MS"/>
              </a:rPr>
              <a:t> </a:t>
            </a:r>
            <a:r>
              <a:rPr sz="2200" spc="135" dirty="0">
                <a:latin typeface="Trebuchet MS"/>
                <a:cs typeface="Trebuchet MS"/>
              </a:rPr>
              <a:t>Innovative</a:t>
            </a:r>
            <a:r>
              <a:rPr sz="2200" spc="65" dirty="0">
                <a:latin typeface="Trebuchet MS"/>
                <a:cs typeface="Trebuchet MS"/>
              </a:rPr>
              <a:t> </a:t>
            </a:r>
            <a:r>
              <a:rPr sz="2200" spc="165" dirty="0">
                <a:latin typeface="Trebuchet MS"/>
                <a:cs typeface="Trebuchet MS"/>
              </a:rPr>
              <a:t>Component</a:t>
            </a:r>
            <a:endParaRPr sz="2200">
              <a:latin typeface="Trebuchet MS"/>
              <a:cs typeface="Trebuchet MS"/>
            </a:endParaRPr>
          </a:p>
          <a:p>
            <a:pPr marL="282575" indent="-26987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282575" algn="l"/>
              </a:tabLst>
            </a:pPr>
            <a:r>
              <a:rPr sz="2500" spc="60" dirty="0">
                <a:latin typeface="Trebuchet MS"/>
                <a:cs typeface="Trebuchet MS"/>
              </a:rPr>
              <a:t>Project</a:t>
            </a:r>
            <a:r>
              <a:rPr sz="2500" spc="55" dirty="0">
                <a:latin typeface="Trebuchet MS"/>
                <a:cs typeface="Trebuchet MS"/>
              </a:rPr>
              <a:t> </a:t>
            </a:r>
            <a:r>
              <a:rPr sz="2500" spc="185" dirty="0">
                <a:latin typeface="Trebuchet MS"/>
                <a:cs typeface="Trebuchet MS"/>
              </a:rPr>
              <a:t>Status</a:t>
            </a:r>
            <a:endParaRPr sz="2500">
              <a:latin typeface="Trebuchet MS"/>
              <a:cs typeface="Trebuchet MS"/>
            </a:endParaRPr>
          </a:p>
          <a:p>
            <a:pPr marL="282575" indent="-26987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82575" algn="l"/>
              </a:tabLst>
            </a:pPr>
            <a:r>
              <a:rPr sz="2500" spc="165" dirty="0">
                <a:latin typeface="Trebuchet MS"/>
                <a:cs typeface="Trebuchet MS"/>
              </a:rPr>
              <a:t>Fund</a:t>
            </a:r>
            <a:r>
              <a:rPr sz="2500" spc="60" dirty="0">
                <a:latin typeface="Trebuchet MS"/>
                <a:cs typeface="Trebuchet MS"/>
              </a:rPr>
              <a:t> </a:t>
            </a:r>
            <a:r>
              <a:rPr sz="2500" spc="165" dirty="0">
                <a:latin typeface="Trebuchet MS"/>
                <a:cs typeface="Trebuchet MS"/>
              </a:rPr>
              <a:t>Requirements</a:t>
            </a:r>
            <a:endParaRPr sz="2500">
              <a:latin typeface="Trebuchet MS"/>
              <a:cs typeface="Trebuchet MS"/>
            </a:endParaRPr>
          </a:p>
          <a:p>
            <a:pPr marL="282575" indent="-269875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282575" algn="l"/>
              </a:tabLst>
            </a:pPr>
            <a:r>
              <a:rPr sz="2500" spc="210" dirty="0">
                <a:latin typeface="Trebuchet MS"/>
                <a:cs typeface="Trebuchet MS"/>
              </a:rPr>
              <a:t>Outcome</a:t>
            </a:r>
            <a:r>
              <a:rPr sz="2500" spc="55" dirty="0">
                <a:latin typeface="Trebuchet MS"/>
                <a:cs typeface="Trebuchet MS"/>
              </a:rPr>
              <a:t> </a:t>
            </a:r>
            <a:r>
              <a:rPr sz="2500" spc="225" dirty="0">
                <a:latin typeface="Trebuchet MS"/>
                <a:cs typeface="Trebuchet MS"/>
              </a:rPr>
              <a:t>and</a:t>
            </a:r>
            <a:r>
              <a:rPr sz="2500" spc="65" dirty="0">
                <a:latin typeface="Trebuchet MS"/>
                <a:cs typeface="Trebuchet MS"/>
              </a:rPr>
              <a:t> </a:t>
            </a:r>
            <a:r>
              <a:rPr sz="2500" spc="114" dirty="0">
                <a:latin typeface="Trebuchet MS"/>
                <a:cs typeface="Trebuchet MS"/>
              </a:rPr>
              <a:t>Path</a:t>
            </a:r>
            <a:r>
              <a:rPr sz="2500" spc="65" dirty="0">
                <a:latin typeface="Trebuchet MS"/>
                <a:cs typeface="Trebuchet MS"/>
              </a:rPr>
              <a:t> </a:t>
            </a:r>
            <a:r>
              <a:rPr sz="2500" spc="125" dirty="0">
                <a:latin typeface="Trebuchet MS"/>
                <a:cs typeface="Trebuchet MS"/>
              </a:rPr>
              <a:t>Forward</a:t>
            </a:r>
            <a:endParaRPr sz="2500">
              <a:latin typeface="Trebuchet MS"/>
              <a:cs typeface="Trebuchet MS"/>
            </a:endParaRPr>
          </a:p>
          <a:p>
            <a:pPr marL="282575" indent="-26987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82575" algn="l"/>
              </a:tabLst>
            </a:pPr>
            <a:r>
              <a:rPr sz="2500" spc="150" dirty="0">
                <a:latin typeface="Trebuchet MS"/>
                <a:cs typeface="Trebuchet MS"/>
              </a:rPr>
              <a:t>References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85" dirty="0"/>
              <a:t>4</a:t>
            </a:fld>
            <a:endParaRPr spc="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594610">
              <a:lnSpc>
                <a:spcPct val="100000"/>
              </a:lnSpc>
              <a:spcBef>
                <a:spcPts val="100"/>
              </a:spcBef>
            </a:pPr>
            <a:r>
              <a:rPr sz="4000" spc="-355" dirty="0"/>
              <a:t>T</a:t>
            </a:r>
            <a:r>
              <a:rPr sz="4000" spc="310" dirty="0"/>
              <a:t>ea</a:t>
            </a:r>
            <a:r>
              <a:rPr sz="4000" spc="315" dirty="0"/>
              <a:t>m</a:t>
            </a:r>
            <a:r>
              <a:rPr sz="4000" spc="60" dirty="0"/>
              <a:t> </a:t>
            </a:r>
            <a:r>
              <a:rPr sz="4000" spc="229" dirty="0"/>
              <a:t>Strength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280973"/>
              </p:ext>
            </p:extLst>
          </p:nvPr>
        </p:nvGraphicFramePr>
        <p:xfrm>
          <a:off x="1600200" y="2091987"/>
          <a:ext cx="8127365" cy="2872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355">
                <a:tc>
                  <a:txBody>
                    <a:bodyPr/>
                    <a:lstStyle/>
                    <a:p>
                      <a:pPr marL="87756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2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Name</a:t>
                      </a:r>
                      <a:r>
                        <a:rPr sz="1400" b="1" spc="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1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00" b="1" spc="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r>
                        <a:rPr sz="1400" b="1" spc="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1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Member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Project</a:t>
                      </a:r>
                      <a:r>
                        <a:rPr sz="1400" b="1" spc="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title</a:t>
                      </a:r>
                      <a:endParaRPr sz="1400" dirty="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Aryan Patel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NearKart – hyperlocal quick-commerce platform (working prototype)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Aryan Patel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WISPA – voice-activated AI assistant (SSIP idea submission)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3717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51937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33400" y="1524000"/>
            <a:ext cx="121920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02030" algn="ctr">
              <a:lnSpc>
                <a:spcPct val="100000"/>
              </a:lnSpc>
              <a:spcBef>
                <a:spcPts val="100"/>
              </a:spcBef>
            </a:pPr>
            <a:r>
              <a:rPr sz="1800" b="0">
                <a:latin typeface="Arial"/>
              </a:rPr>
              <a:t>Aryan built the complete NearKart platform solo — four apps (Customer, Shop, Rider, Admin) on one live order engine, deployed on Vercel.</a:t>
            </a:r>
            <a:endParaRPr sz="15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85" dirty="0"/>
              <a:t>5</a:t>
            </a:fld>
            <a:endParaRPr spc="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2365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Brief</a:t>
            </a:r>
            <a:r>
              <a:rPr spc="80" dirty="0"/>
              <a:t> </a:t>
            </a:r>
            <a:r>
              <a:rPr spc="235" dirty="0"/>
              <a:t>Description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34490"/>
            <a:ext cx="10799445" cy="4410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0355" indent="-287655" algn="just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00355" algn="l"/>
              </a:tabLst>
            </a:pPr>
            <a:r>
              <a:rPr sz="2700" b="1">
                <a:latin typeface="Arial"/>
              </a:rPr>
              <a:t>PROBLEM — what NearKart is trying to solve:</a:t>
            </a:r>
            <a:endParaRPr sz="2700">
              <a:latin typeface="Trebuchet MS"/>
              <a:cs typeface="Trebuchet MS"/>
            </a:endParaRPr>
          </a:p>
          <a:p>
            <a:pPr marL="300355" indent="-287655" algn="just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00355" algn="l"/>
              </a:tabLst>
            </a:pPr>
            <a:r>
              <a:rPr sz="2400" b="0">
                <a:latin typeface="Arial"/>
              </a:rPr>
              <a:t>India’s quick commerce runs on “dark stores” — private warehouses placed inside residential areas</a:t>
            </a:r>
          </a:p>
          <a:p>
            <a:pPr marL="300355" indent="-287655" algn="just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00355" algn="l"/>
              </a:tabLst>
            </a:pPr>
            <a:r>
              <a:rPr sz="2400" b="0">
                <a:latin typeface="Arial"/>
              </a:rPr>
              <a:t>12–13 million local kirana stores have no app, no delivery network, no digital storefront</a:t>
            </a:r>
          </a:p>
          <a:p>
            <a:pPr marL="300355" indent="-287655" algn="just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00355" algn="l"/>
              </a:tabLst>
            </a:pPr>
            <a:r>
              <a:rPr sz="2400" b="0">
                <a:latin typeface="Arial"/>
              </a:rPr>
              <a:t>Dark stores stock only ~2,000 SKUs and lose money on most orders — costs return as fees</a:t>
            </a:r>
          </a:p>
          <a:p>
            <a:pPr marL="300355" indent="-287655" algn="just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00355" algn="l"/>
              </a:tabLst>
            </a:pPr>
            <a:r>
              <a:rPr sz="2400" b="0">
                <a:latin typeface="Arial"/>
              </a:rPr>
              <a:t>Shops lose direct customer contact; riders can’t see payout before accepting a job</a:t>
            </a:r>
          </a:p>
          <a:p>
            <a:pPr marL="300355" indent="-287655" algn="just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00355" algn="l"/>
              </a:tabLst>
            </a:pPr>
            <a:r>
              <a:rPr sz="2400" b="1">
                <a:latin typeface="Arial"/>
              </a:rPr>
              <a:t>Needed: dark-store speed with kirana trust — without building a single warehouse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85" dirty="0"/>
              <a:t>6</a:t>
            </a:fld>
            <a:endParaRPr spc="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1245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Value</a:t>
            </a:r>
            <a:r>
              <a:rPr spc="65" dirty="0"/>
              <a:t> </a:t>
            </a:r>
            <a:r>
              <a:rPr spc="180" dirty="0"/>
              <a:t>Proposition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388109"/>
            <a:ext cx="10807700" cy="4206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890" indent="-342900">
              <a:lnSpc>
                <a:spcPct val="1508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624330" algn="l"/>
                <a:tab pos="2148840" algn="l"/>
                <a:tab pos="3014980" algn="l"/>
                <a:tab pos="4324350" algn="l"/>
                <a:tab pos="4915535" algn="l"/>
                <a:tab pos="7576184" algn="l"/>
                <a:tab pos="8638540" algn="l"/>
                <a:tab pos="10381615" algn="l"/>
              </a:tabLst>
            </a:pPr>
            <a:r>
              <a:rPr sz="2400" b="0">
                <a:latin typeface="Arial"/>
              </a:rPr>
              <a:t>For customers — 15–30 min delivery from trusted local shops, honest ETAs, live OTP tracking</a:t>
            </a:r>
            <a:endParaRPr sz="3200">
              <a:latin typeface="Trebuchet MS"/>
              <a:cs typeface="Trebuchet MS"/>
            </a:endParaRPr>
          </a:p>
          <a:p>
            <a:pPr marL="355600" marR="8890" indent="-342900">
              <a:lnSpc>
                <a:spcPct val="1508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624330" algn="l"/>
                <a:tab pos="2148840" algn="l"/>
                <a:tab pos="3014980" algn="l"/>
                <a:tab pos="4324350" algn="l"/>
                <a:tab pos="4915535" algn="l"/>
                <a:tab pos="7576184" algn="l"/>
                <a:tab pos="8638540" algn="l"/>
                <a:tab pos="10381615" algn="l"/>
              </a:tabLst>
            </a:pPr>
            <a:r>
              <a:rPr sz="2400" b="0">
                <a:latin typeface="Arial"/>
              </a:rPr>
              <a:t>For kiranas — a full digital storefront: order timers, inventory automation, transparent payouts</a:t>
            </a:r>
          </a:p>
          <a:p>
            <a:pPr marL="355600" marR="8890" indent="-342900">
              <a:lnSpc>
                <a:spcPct val="1508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624330" algn="l"/>
                <a:tab pos="2148840" algn="l"/>
                <a:tab pos="3014980" algn="l"/>
                <a:tab pos="4324350" algn="l"/>
                <a:tab pos="4915535" algn="l"/>
                <a:tab pos="7576184" algn="l"/>
                <a:tab pos="8638540" algn="l"/>
                <a:tab pos="10381615" algn="l"/>
              </a:tabLst>
            </a:pPr>
            <a:r>
              <a:rPr sz="2400" b="0">
                <a:latin typeface="Arial"/>
              </a:rPr>
              <a:t>For riders — payout shown before accepting, OTP-verified trips, 100% of tips, instant payout</a:t>
            </a:r>
          </a:p>
          <a:p>
            <a:pPr marL="355600" marR="8890" indent="-342900">
              <a:lnSpc>
                <a:spcPct val="1508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624330" algn="l"/>
                <a:tab pos="2148840" algn="l"/>
                <a:tab pos="3014980" algn="l"/>
                <a:tab pos="4324350" algn="l"/>
                <a:tab pos="4915535" algn="l"/>
                <a:tab pos="7576184" algn="l"/>
                <a:tab pos="8638540" algn="l"/>
                <a:tab pos="10381615" algn="l"/>
              </a:tabLst>
            </a:pPr>
            <a:r>
              <a:rPr sz="2400" b="0">
                <a:latin typeface="Arial"/>
              </a:rPr>
              <a:t>For society — local businesses stay competitive; zero warehouse capex per store</a:t>
            </a:r>
          </a:p>
          <a:p>
            <a:pPr marL="355600" marR="8890" indent="-342900">
              <a:lnSpc>
                <a:spcPct val="1508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624330" algn="l"/>
                <a:tab pos="2148840" algn="l"/>
                <a:tab pos="3014980" algn="l"/>
                <a:tab pos="4324350" algn="l"/>
                <a:tab pos="4915535" algn="l"/>
                <a:tab pos="7576184" algn="l"/>
                <a:tab pos="8638540" algn="l"/>
                <a:tab pos="10381615" algn="l"/>
              </a:tabLst>
            </a:pPr>
            <a:r>
              <a:rPr sz="2400" b="0">
                <a:latin typeface="Arial"/>
              </a:rPr>
              <a:t>For the platform — six revenue streams on a single order (commission, fees, subscriptions, ads)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110" dirty="0"/>
              <a:t>7</a:t>
            </a:fld>
            <a:endParaRPr spc="1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6690">
              <a:lnSpc>
                <a:spcPct val="100000"/>
              </a:lnSpc>
              <a:spcBef>
                <a:spcPts val="100"/>
              </a:spcBef>
            </a:pPr>
            <a:r>
              <a:rPr spc="250" dirty="0"/>
              <a:t>Market</a:t>
            </a:r>
            <a:r>
              <a:rPr spc="75" dirty="0"/>
              <a:t> </a:t>
            </a:r>
            <a:r>
              <a:rPr spc="365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6909" y="1324609"/>
            <a:ext cx="10808335" cy="32943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5595" marR="16510" indent="-302895" algn="just">
              <a:lnSpc>
                <a:spcPct val="100299"/>
              </a:lnSpc>
              <a:spcBef>
                <a:spcPts val="90"/>
              </a:spcBef>
              <a:buFont typeface="Arial MT"/>
              <a:buChar char="•"/>
              <a:tabLst>
                <a:tab pos="317500" algn="l"/>
              </a:tabLst>
            </a:pPr>
            <a:r>
              <a:rPr sz="2400" b="1">
                <a:latin typeface="Arial"/>
              </a:rPr>
              <a:t>Existing systems:</a:t>
            </a:r>
            <a:endParaRPr sz="2850" dirty="0">
              <a:latin typeface="Trebuchet MS"/>
              <a:cs typeface="Trebuchet MS"/>
            </a:endParaRPr>
          </a:p>
          <a:p>
            <a:pPr marL="315595" marR="16510" indent="-302895" algn="just">
              <a:lnSpc>
                <a:spcPct val="100299"/>
              </a:lnSpc>
              <a:spcBef>
                <a:spcPts val="90"/>
              </a:spcBef>
              <a:buFont typeface="Arial MT"/>
              <a:buChar char="•"/>
              <a:tabLst>
                <a:tab pos="317500" algn="l"/>
              </a:tabLst>
            </a:pPr>
            <a:r>
              <a:rPr sz="2400" b="0">
                <a:latin typeface="Arial"/>
              </a:rPr>
              <a:t>Blinkit, Zepto, Swiggy Instamart — dark-store networks, metro pin codes only</a:t>
            </a:r>
          </a:p>
          <a:p>
            <a:pPr marL="315595" marR="16510" indent="-302895" algn="just">
              <a:lnSpc>
                <a:spcPct val="100299"/>
              </a:lnSpc>
              <a:spcBef>
                <a:spcPts val="90"/>
              </a:spcBef>
              <a:buFont typeface="Arial MT"/>
              <a:buChar char="•"/>
              <a:tabLst>
                <a:tab pos="317500" algn="l"/>
              </a:tabLst>
            </a:pPr>
            <a:r>
              <a:rPr sz="2400" b="0">
                <a:latin typeface="Arial"/>
              </a:rPr>
              <a:t>ONDC / Shopify — storefronts without 15–30 min delivery logistics</a:t>
            </a:r>
          </a:p>
          <a:p>
            <a:pPr marL="315595" marR="16510" indent="-302895" algn="just">
              <a:lnSpc>
                <a:spcPct val="100299"/>
              </a:lnSpc>
              <a:spcBef>
                <a:spcPts val="90"/>
              </a:spcBef>
              <a:buFont typeface="Arial MT"/>
              <a:buChar char="•"/>
              <a:tabLst>
                <a:tab pos="317500" algn="l"/>
              </a:tabLst>
            </a:pPr>
            <a:r>
              <a:rPr sz="2400" b="1">
                <a:latin typeface="Arial"/>
              </a:rPr>
              <a:t>NearKart difference — existing shops become the fulfilment network (zero dark stores)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6909" y="4667250"/>
            <a:ext cx="9936480" cy="14058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17500" marR="517525" indent="-304800">
              <a:lnSpc>
                <a:spcPct val="100600"/>
              </a:lnSpc>
              <a:spcBef>
                <a:spcPts val="80"/>
              </a:spcBef>
              <a:buFont typeface="Arial MT"/>
              <a:buChar char="•"/>
              <a:tabLst>
                <a:tab pos="317500" algn="l"/>
                <a:tab pos="1692275" algn="l"/>
                <a:tab pos="2547620" algn="l"/>
                <a:tab pos="4022090" algn="l"/>
                <a:tab pos="5522595" algn="l"/>
                <a:tab pos="6452235" algn="l"/>
                <a:tab pos="8910955" algn="l"/>
              </a:tabLst>
            </a:pPr>
            <a:r>
              <a:rPr sz="2400" b="0">
                <a:latin typeface="Arial"/>
              </a:rPr>
              <a:t>Quick commerce: ~US$3.3B (2023) → US$30–40B by 2030 (RedSeer)</a:t>
            </a:r>
            <a:endParaRPr sz="2850" dirty="0">
              <a:latin typeface="Trebuchet MS"/>
              <a:cs typeface="Trebuchet MS"/>
            </a:endParaRPr>
          </a:p>
          <a:p>
            <a:pPr marL="317500" marR="517525" indent="-304800">
              <a:lnSpc>
                <a:spcPct val="100600"/>
              </a:lnSpc>
              <a:spcBef>
                <a:spcPts val="80"/>
              </a:spcBef>
              <a:buFont typeface="Arial MT"/>
              <a:buChar char="•"/>
              <a:tabLst>
                <a:tab pos="317500" algn="l"/>
                <a:tab pos="1692275" algn="l"/>
                <a:tab pos="2547620" algn="l"/>
                <a:tab pos="4022090" algn="l"/>
                <a:tab pos="5522595" algn="l"/>
                <a:tab pos="6452235" algn="l"/>
                <a:tab pos="8910955" algn="l"/>
              </a:tabLst>
            </a:pPr>
            <a:r>
              <a:rPr sz="2400" b="0">
                <a:latin typeface="Arial"/>
              </a:rPr>
              <a:t>Kiranas hold 85–90% of FMCG sales; fewer than 5% digitised</a:t>
            </a:r>
          </a:p>
          <a:p>
            <a:pPr marL="317500" marR="517525" indent="-304800">
              <a:lnSpc>
                <a:spcPct val="100600"/>
              </a:lnSpc>
              <a:spcBef>
                <a:spcPts val="80"/>
              </a:spcBef>
              <a:buFont typeface="Arial MT"/>
              <a:buChar char="•"/>
              <a:tabLst>
                <a:tab pos="317500" algn="l"/>
                <a:tab pos="1692275" algn="l"/>
                <a:tab pos="2547620" algn="l"/>
                <a:tab pos="4022090" algn="l"/>
                <a:tab pos="5522595" algn="l"/>
                <a:tab pos="6452235" algn="l"/>
                <a:tab pos="8910955" algn="l"/>
              </a:tabLst>
            </a:pPr>
            <a:r>
              <a:rPr sz="2400" b="0">
                <a:latin typeface="Arial"/>
              </a:rPr>
              <a:t>Target segment: tier-2 neighbourhoods, starting Satellite, Ahmedabad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110" dirty="0"/>
              <a:t>8</a:t>
            </a:fld>
            <a:endParaRPr spc="1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5085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Current</a:t>
            </a:r>
            <a:r>
              <a:rPr spc="70" dirty="0"/>
              <a:t> </a:t>
            </a:r>
            <a:r>
              <a:rPr spc="305" dirty="0"/>
              <a:t>Status</a:t>
            </a:r>
            <a:r>
              <a:rPr spc="70" dirty="0"/>
              <a:t> </a:t>
            </a:r>
            <a:r>
              <a:rPr spc="114" dirty="0"/>
              <a:t>of</a:t>
            </a:r>
            <a:r>
              <a:rPr spc="75" dirty="0"/>
              <a:t> </a:t>
            </a:r>
            <a:r>
              <a:rPr spc="55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650" y="1593850"/>
            <a:ext cx="6035040" cy="44659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2425" algn="l"/>
              </a:tabLst>
            </a:pPr>
            <a:r>
              <a:rPr sz="2400" b="1">
                <a:latin typeface="Arial"/>
              </a:rPr>
              <a:t>Working since September 2026</a:t>
            </a:r>
            <a:endParaRPr sz="3150">
              <a:latin typeface="Trebuchet MS"/>
              <a:cs typeface="Trebuchet MS"/>
            </a:endParaRPr>
          </a:p>
          <a:p>
            <a:pPr marL="352425" indent="-33972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2425" algn="l"/>
              </a:tabLst>
            </a:pPr>
            <a:r>
              <a:rPr sz="2400" b="0">
                <a:latin typeface="Arial"/>
              </a:rPr>
              <a:t>All four modules built &amp; deployed live on Vercel</a:t>
            </a:r>
          </a:p>
          <a:p>
            <a:pPr marL="352425" indent="-33972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2425" algn="l"/>
              </a:tabLst>
            </a:pPr>
            <a:r>
              <a:rPr sz="2400" b="0">
                <a:latin typeface="Arial"/>
              </a:rPr>
              <a:t>One shared live order engine — orders sync across apps in real time</a:t>
            </a:r>
          </a:p>
          <a:p>
            <a:pPr marL="352425" indent="-33972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2425" algn="l"/>
              </a:tabLst>
            </a:pPr>
            <a:r>
              <a:rPr sz="2400" b="0">
                <a:latin typeface="Arial"/>
              </a:rPr>
              <a:t>Ranking, ETA, rider-matching, fraud &amp; forecasting algorithms implemented</a:t>
            </a:r>
          </a:p>
          <a:p>
            <a:pPr marL="352425" indent="-33972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2425" algn="l"/>
              </a:tabLst>
            </a:pPr>
            <a:r>
              <a:rPr sz="2400" b="0">
                <a:latin typeface="Arial"/>
              </a:rPr>
              <a:t>Version-controlled on GitHub; code + demo available today</a:t>
            </a:r>
          </a:p>
          <a:p>
            <a:pPr marL="352425" indent="-33972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2425" algn="l"/>
              </a:tabLst>
            </a:pPr>
            <a:r>
              <a:rPr sz="2400" b="0">
                <a:latin typeface="Arial"/>
              </a:rPr>
              <a:t>Distance to goal: production backend + a paid pilot locality</a:t>
            </a:r>
          </a:p>
        </p:txBody>
      </p:sp>
      <p:pic>
        <p:nvPicPr>
          <p:cNvPr id="6" name="Picture 5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83080"/>
            <a:ext cx="4846320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110" dirty="0"/>
              <a:t>9</a:t>
            </a:fld>
            <a:endParaRPr spc="1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0629" y="309880"/>
            <a:ext cx="7180580" cy="10744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092325" marR="5080" indent="-2080260">
              <a:lnSpc>
                <a:spcPct val="101499"/>
              </a:lnSpc>
              <a:spcBef>
                <a:spcPts val="65"/>
              </a:spcBef>
            </a:pPr>
            <a:r>
              <a:rPr sz="3400" b="1">
                <a:latin typeface="Arial"/>
              </a:rPr>
              <a:t>Project Work to be accomplished (1 of 2)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755650" y="1746250"/>
            <a:ext cx="11043285" cy="402145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b="1">
                <a:latin typeface="Arial"/>
              </a:rPr>
              <a:t>Current status is successful — a complete, working prototype exists today</a:t>
            </a:r>
            <a:endParaRPr sz="2650">
              <a:latin typeface="Trebuchet MS"/>
              <a:cs typeface="Trebuchet MS"/>
            </a:endParaRPr>
          </a:p>
          <a:p>
            <a:pPr marL="296545" indent="-28384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b="1">
                <a:latin typeface="Arial"/>
              </a:rPr>
              <a:t>What is needed next:</a:t>
            </a:r>
          </a:p>
          <a:p>
            <a:pPr marL="296545" indent="-28384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b="0">
                <a:latin typeface="Arial"/>
              </a:rPr>
              <a:t>Production backend — PostgreSQL + Prisma, NestJS order services</a:t>
            </a:r>
          </a:p>
          <a:p>
            <a:pPr marL="296545" indent="-28384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b="0">
                <a:latin typeface="Arial"/>
              </a:rPr>
              <a:t>Redis + BullMQ for the live order state machine</a:t>
            </a:r>
          </a:p>
          <a:p>
            <a:pPr marL="296545" indent="-28384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b="0">
                <a:latin typeface="Arial"/>
              </a:rPr>
              <a:t>Real payments — Razorpay/Cashfree; maps — Google/MapmyIndia</a:t>
            </a:r>
          </a:p>
          <a:p>
            <a:pPr marL="296545" indent="-28384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b="0">
                <a:latin typeface="Arial"/>
              </a:rPr>
              <a:t>WhatsApp/SMS notifications; GST TCS &amp; FSSAI compliance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110" dirty="0"/>
              <a:t>10</a:t>
            </a:fld>
            <a:endParaRPr spc="1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3295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Proposed</a:t>
            </a:r>
            <a:r>
              <a:rPr spc="90" dirty="0"/>
              <a:t> </a:t>
            </a:r>
            <a:r>
              <a:rPr spc="229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33220"/>
            <a:ext cx="6309360" cy="205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097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>
                <a:latin typeface="Arial"/>
              </a:rPr>
              <a:t>Four apps, one live order engine:</a:t>
            </a:r>
            <a:endParaRPr sz="3200">
              <a:latin typeface="Trebuchet MS"/>
              <a:cs typeface="Trebuchet MS"/>
            </a:endParaRPr>
          </a:p>
          <a:p>
            <a:pPr marL="355600" marR="14097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0">
                <a:latin typeface="Arial"/>
              </a:rPr>
              <a:t>Customer app — order, pay, track with OTP</a:t>
            </a:r>
          </a:p>
          <a:p>
            <a:pPr marL="355600" marR="14097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0">
                <a:latin typeface="Arial"/>
              </a:rPr>
              <a:t>Shop dashboard — 2-min accept timer, stock automation</a:t>
            </a:r>
          </a:p>
          <a:p>
            <a:pPr marL="355600" marR="14097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0">
                <a:latin typeface="Arial"/>
              </a:rPr>
              <a:t>Rider app — transparent job cards, OTP delivery</a:t>
            </a:r>
          </a:p>
          <a:p>
            <a:pPr marL="355600" marR="14097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0">
                <a:latin typeface="Arial"/>
              </a:rPr>
              <a:t>Admin console — verification, disputes, analytics</a:t>
            </a:r>
          </a:p>
          <a:p>
            <a:pPr marL="355600" marR="14097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b="0">
                <a:latin typeface="Arial"/>
              </a:rPr>
              <a:t>Objectives: live engine · inventory automation · fair rider UX · intelligence layer · trust tooling</a:t>
            </a:r>
          </a:p>
        </p:txBody>
      </p:sp>
      <p:pic>
        <p:nvPicPr>
          <p:cNvPr id="6" name="Picture 5" descr="custo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920240"/>
            <a:ext cx="4709160" cy="29432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110" dirty="0"/>
              <a:t>11</a:t>
            </a:fld>
            <a:endParaRPr spc="1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135">
              <a:lnSpc>
                <a:spcPct val="100000"/>
              </a:lnSpc>
              <a:spcBef>
                <a:spcPts val="100"/>
              </a:spcBef>
            </a:pPr>
            <a:r>
              <a:rPr spc="260" dirty="0"/>
              <a:t>Innovation</a:t>
            </a:r>
            <a:r>
              <a:rPr spc="80" dirty="0"/>
              <a:t> </a:t>
            </a:r>
            <a:r>
              <a:rPr spc="160" dirty="0"/>
              <a:t>in</a:t>
            </a:r>
            <a:r>
              <a:rPr spc="90" dirty="0"/>
              <a:t> </a:t>
            </a:r>
            <a:r>
              <a:rPr spc="270" dirty="0"/>
              <a:t>Proposed</a:t>
            </a:r>
            <a:r>
              <a:rPr spc="80" dirty="0"/>
              <a:t> </a:t>
            </a:r>
            <a:r>
              <a:rPr spc="225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33220"/>
            <a:ext cx="10135870" cy="4118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3540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>
                <a:latin typeface="Arial"/>
              </a:rPr>
              <a:t>Patentable innovative components (candidate):</a:t>
            </a:r>
            <a:endParaRPr sz="3200">
              <a:latin typeface="Trebuchet MS"/>
              <a:cs typeface="Trebuchet MS"/>
            </a:endParaRPr>
          </a:p>
          <a:p>
            <a:pPr marL="355600" marR="133540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0">
                <a:latin typeface="Arial"/>
              </a:rPr>
              <a:t>Automated stock-lifecycle method — deduct on accept, restore on cancel, auto-hide at zero, pause on repeat</a:t>
            </a:r>
          </a:p>
          <a:p>
            <a:pPr marL="355600" marR="133540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0">
                <a:latin typeface="Arial"/>
              </a:rPr>
              <a:t>Multi-objective shop-ranking process (rating, proximity, speed, reliability, demand)</a:t>
            </a:r>
          </a:p>
          <a:p>
            <a:pPr marL="355600" marR="133540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0">
                <a:latin typeface="Arial"/>
              </a:rPr>
              <a:t>Pre-acceptance payout-transparency mechanism for gig riders</a:t>
            </a:r>
          </a:p>
          <a:p>
            <a:pPr marL="355600" marR="133540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0">
                <a:latin typeface="Arial"/>
              </a:rPr>
              <a:t>Rule-based COD fraud-risk scoring engine (value bands, radius, history)</a:t>
            </a:r>
          </a:p>
          <a:p>
            <a:pPr marL="355600" marR="133540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>
                <a:latin typeface="Arial"/>
              </a:rPr>
              <a:t>Category: Utility — computer-related process/method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marL="225425" algn="ctr">
              <a:lnSpc>
                <a:spcPct val="100000"/>
              </a:lnSpc>
              <a:spcBef>
                <a:spcPts val="1475"/>
              </a:spcBef>
            </a:pPr>
            <a:r>
              <a:rPr sz="4000" b="1">
                <a:latin typeface="Arial"/>
              </a:rPr>
              <a:t>Fund Requirements</a:t>
            </a:r>
            <a:endParaRPr sz="4000"/>
          </a:p>
          <a:p>
            <a:pPr marL="225425" algn="ctr">
              <a:lnSpc>
                <a:spcPct val="100000"/>
              </a:lnSpc>
              <a:spcBef>
                <a:spcPts val="1475"/>
              </a:spcBef>
            </a:pPr>
            <a:r>
              <a:rPr sz="3000" b="1">
                <a:latin typeface="Arial"/>
              </a:rPr>
              <a:t>Total cost (including consumables, non consumables, recurring and non recurring): RS. 3,00,000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3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110" dirty="0"/>
              <a:t>12</a:t>
            </a:fld>
            <a:endParaRPr spc="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110" dirty="0"/>
              <a:t>13</a:t>
            </a:fld>
            <a:endParaRPr spc="1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9720" y="562609"/>
            <a:ext cx="66662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9" dirty="0"/>
              <a:t>Materials</a:t>
            </a:r>
            <a:r>
              <a:rPr spc="80" dirty="0"/>
              <a:t> </a:t>
            </a:r>
            <a:r>
              <a:rPr spc="-835" dirty="0"/>
              <a:t>/</a:t>
            </a:r>
            <a:r>
              <a:rPr spc="85" dirty="0"/>
              <a:t> </a:t>
            </a:r>
            <a:r>
              <a:rPr spc="340" dirty="0"/>
              <a:t>Components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913074"/>
              </p:ext>
            </p:extLst>
          </p:nvPr>
        </p:nvGraphicFramePr>
        <p:xfrm>
          <a:off x="457200" y="1674495"/>
          <a:ext cx="10972800" cy="3649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 marL="72136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b="1" spc="2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Component</a:t>
                      </a:r>
                      <a:r>
                        <a:rPr sz="1800" b="1" spc="10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2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Name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451484" marR="202565" indent="-241300">
                        <a:lnSpc>
                          <a:spcPts val="2090"/>
                        </a:lnSpc>
                        <a:spcBef>
                          <a:spcPts val="335"/>
                        </a:spcBef>
                      </a:pPr>
                      <a:r>
                        <a:rPr sz="1800" b="1" spc="20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Where</a:t>
                      </a:r>
                      <a:r>
                        <a:rPr sz="1800" b="1" spc="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1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it </a:t>
                      </a:r>
                      <a:r>
                        <a:rPr sz="1800" b="1" spc="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will </a:t>
                      </a:r>
                      <a:r>
                        <a:rPr sz="1800" b="1" spc="1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sz="1800" b="1" spc="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2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used?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400050" marR="89535" indent="-300990">
                        <a:lnSpc>
                          <a:spcPts val="2090"/>
                        </a:lnSpc>
                        <a:spcBef>
                          <a:spcPts val="335"/>
                        </a:spcBef>
                      </a:pPr>
                      <a:r>
                        <a:rPr sz="1800" b="1" spc="180" dirty="0" smtClean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Quanti</a:t>
                      </a:r>
                      <a:r>
                        <a:rPr sz="1800" b="1" spc="145" dirty="0" smtClean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ty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219710" marR="213360" indent="-635" algn="ctr">
                        <a:lnSpc>
                          <a:spcPts val="2090"/>
                        </a:lnSpc>
                        <a:spcBef>
                          <a:spcPts val="335"/>
                        </a:spcBef>
                      </a:pPr>
                      <a:r>
                        <a:rPr sz="1800" b="1" spc="1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Price </a:t>
                      </a:r>
                      <a:r>
                        <a:rPr sz="1800" b="1" spc="1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per </a:t>
                      </a:r>
                      <a:r>
                        <a:rPr sz="1800" b="1" spc="1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Unit </a:t>
                      </a:r>
                      <a:r>
                        <a:rPr sz="1800" b="1" spc="20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(INR)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30797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b="1" spc="10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Cloud hosting &amp; CDN (Vercel Pro)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All four apps, 12 months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12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1,250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15,000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Google Maps API credits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ETA, distance &amp; zones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20,000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20,000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Payment gateway (Razorpay)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UPI / card payments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15,000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15,000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WhatsApp Business API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Order notifications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10,000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10,000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Total(A)</a:t>
                      </a: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60,000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434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130" dirty="0">
                          <a:latin typeface="Trebuchet MS"/>
                          <a:cs typeface="Trebuchet MS"/>
                        </a:rPr>
                        <a:t>Total(A)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9209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110" dirty="0"/>
              <a:t>14</a:t>
            </a:fld>
            <a:endParaRPr spc="110" dirty="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447800" y="1506855"/>
          <a:ext cx="9086850" cy="3670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6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1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9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7094">
                <a:tc>
                  <a:txBody>
                    <a:bodyPr/>
                    <a:lstStyle/>
                    <a:p>
                      <a:pPr marL="207645" marR="200660" algn="ctr">
                        <a:lnSpc>
                          <a:spcPct val="96500"/>
                        </a:lnSpc>
                        <a:spcBef>
                          <a:spcPts val="305"/>
                        </a:spcBef>
                      </a:pPr>
                      <a:r>
                        <a:rPr sz="1800" b="1" spc="20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Expense</a:t>
                      </a:r>
                      <a:r>
                        <a:rPr sz="1800" b="1" spc="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20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Head </a:t>
                      </a:r>
                      <a:r>
                        <a:rPr sz="1800" b="1" spc="2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(Mention</a:t>
                      </a:r>
                      <a:r>
                        <a:rPr sz="1800" b="1" spc="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1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whichever </a:t>
                      </a:r>
                      <a:r>
                        <a:rPr sz="1800" b="1" spc="1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sz="1800" b="1" spc="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1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applicable)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1182370" marR="351790" indent="-824230">
                        <a:lnSpc>
                          <a:spcPts val="2080"/>
                        </a:lnSpc>
                        <a:spcBef>
                          <a:spcPts val="365"/>
                        </a:spcBef>
                      </a:pPr>
                      <a:r>
                        <a:rPr sz="1800" b="1" spc="1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Give</a:t>
                      </a:r>
                      <a:r>
                        <a:rPr sz="1800" b="1" spc="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1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details</a:t>
                      </a:r>
                      <a:r>
                        <a:rPr sz="1800" b="1" spc="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1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800" b="1" spc="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1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sz="1800" b="1" spc="1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items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839469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r>
                        <a:rPr sz="1800" b="1" spc="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Price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7310">
                        <a:lnSpc>
                          <a:spcPts val="2030"/>
                        </a:lnSpc>
                      </a:pPr>
                      <a:r>
                        <a:rPr sz="1800" spc="135" dirty="0">
                          <a:latin typeface="Trebuchet MS"/>
                          <a:cs typeface="Trebuchet MS"/>
                        </a:rPr>
                        <a:t>Consumables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Test devices, data plans, shop-onboarding travel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20,000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67310">
                        <a:lnSpc>
                          <a:spcPts val="2025"/>
                        </a:lnSpc>
                      </a:pPr>
                      <a:r>
                        <a:rPr sz="1800" spc="110" dirty="0">
                          <a:latin typeface="Trebuchet MS"/>
                          <a:cs typeface="Trebuchet MS"/>
                        </a:rPr>
                        <a:t>Minor</a:t>
                      </a:r>
                      <a:r>
                        <a:rPr sz="18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05" dirty="0">
                          <a:latin typeface="Trebuchet MS"/>
                          <a:cs typeface="Trebuchet MS"/>
                        </a:rPr>
                        <a:t>works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Workstation upgrades, connectivity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20,000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67310">
                        <a:lnSpc>
                          <a:spcPts val="2020"/>
                        </a:lnSpc>
                      </a:pPr>
                      <a:r>
                        <a:rPr sz="1800" spc="85" dirty="0">
                          <a:latin typeface="Trebuchet MS"/>
                          <a:cs typeface="Trebuchet MS"/>
                        </a:rPr>
                        <a:t>Professional</a:t>
                      </a:r>
                      <a:r>
                        <a:rPr sz="18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05" dirty="0">
                          <a:latin typeface="Trebuchet MS"/>
                          <a:cs typeface="Trebuchet MS"/>
                        </a:rPr>
                        <a:t>services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67310">
                        <a:lnSpc>
                          <a:spcPts val="2125"/>
                        </a:lnSpc>
                        <a:spcBef>
                          <a:spcPts val="80"/>
                        </a:spcBef>
                      </a:pPr>
                      <a:r>
                        <a:rPr sz="1800" spc="70" dirty="0">
                          <a:latin typeface="Trebuchet MS"/>
                          <a:cs typeface="Trebuchet MS"/>
                        </a:rPr>
                        <a:t>(from</a:t>
                      </a:r>
                      <a:r>
                        <a:rPr sz="18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80" dirty="0">
                          <a:latin typeface="Trebuchet MS"/>
                          <a:cs typeface="Trebuchet MS"/>
                        </a:rPr>
                        <a:t>outside)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UI/UX &amp; backend development support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80,000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67310">
                        <a:lnSpc>
                          <a:spcPts val="2025"/>
                        </a:lnSpc>
                      </a:pPr>
                      <a:r>
                        <a:rPr sz="1800" spc="110" dirty="0">
                          <a:latin typeface="Trebuchet MS"/>
                          <a:cs typeface="Trebuchet MS"/>
                        </a:rPr>
                        <a:t>Mentoring</a:t>
                      </a:r>
                      <a:r>
                        <a:rPr sz="180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105" dirty="0">
                          <a:latin typeface="Trebuchet MS"/>
                          <a:cs typeface="Trebuchet MS"/>
                        </a:rPr>
                        <a:t>services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67310">
                        <a:lnSpc>
                          <a:spcPts val="2130"/>
                        </a:lnSpc>
                        <a:spcBef>
                          <a:spcPts val="70"/>
                        </a:spcBef>
                      </a:pPr>
                      <a:r>
                        <a:rPr sz="1800" spc="70" dirty="0">
                          <a:latin typeface="Trebuchet MS"/>
                          <a:cs typeface="Trebuchet MS"/>
                        </a:rPr>
                        <a:t>(from</a:t>
                      </a:r>
                      <a:r>
                        <a:rPr sz="18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80" dirty="0">
                          <a:latin typeface="Trebuchet MS"/>
                          <a:cs typeface="Trebuchet MS"/>
                        </a:rPr>
                        <a:t>outside)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Domain experts — retail ops &amp; gig-work compliance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30,000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7310">
                        <a:lnSpc>
                          <a:spcPts val="2030"/>
                        </a:lnSpc>
                      </a:pPr>
                      <a:r>
                        <a:rPr sz="1800" spc="60" dirty="0">
                          <a:latin typeface="Trebuchet MS"/>
                          <a:cs typeface="Trebuchet MS"/>
                        </a:rPr>
                        <a:t>Patent</a:t>
                      </a:r>
                      <a:r>
                        <a:rPr sz="1800" spc="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filing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Innovation/patent filing support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40,000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7310">
                        <a:lnSpc>
                          <a:spcPts val="2025"/>
                        </a:lnSpc>
                      </a:pPr>
                      <a:r>
                        <a:rPr sz="1800" spc="155" dirty="0">
                          <a:latin typeface="Trebuchet MS"/>
                          <a:cs typeface="Trebuchet MS"/>
                        </a:rPr>
                        <a:t>Any</a:t>
                      </a:r>
                      <a:r>
                        <a:rPr sz="18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80" dirty="0">
                          <a:latin typeface="Trebuchet MS"/>
                          <a:cs typeface="Trebuchet MS"/>
                        </a:rPr>
                        <a:t>other</a:t>
                      </a:r>
                      <a:r>
                        <a:rPr sz="18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(Pl.</a:t>
                      </a:r>
                      <a:r>
                        <a:rPr sz="18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80" dirty="0">
                          <a:latin typeface="Trebuchet MS"/>
                          <a:cs typeface="Trebuchet MS"/>
                        </a:rPr>
                        <a:t>Specify)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Pilot marketing, shop onboarding &amp; demo events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50,000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Total(B)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2,40,000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70629" y="562609"/>
            <a:ext cx="44538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40" dirty="0"/>
              <a:t>Other</a:t>
            </a:r>
            <a:r>
              <a:rPr spc="70" dirty="0"/>
              <a:t> </a:t>
            </a:r>
            <a:r>
              <a:rPr spc="375" dirty="0"/>
              <a:t>Expenses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110" dirty="0"/>
              <a:t>15</a:t>
            </a:fld>
            <a:endParaRPr spc="1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2815">
              <a:lnSpc>
                <a:spcPct val="100000"/>
              </a:lnSpc>
              <a:spcBef>
                <a:spcPts val="100"/>
              </a:spcBef>
            </a:pPr>
            <a:r>
              <a:rPr spc="310" dirty="0"/>
              <a:t>Outcome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650" y="1407160"/>
            <a:ext cx="10788015" cy="2736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8455" indent="-32575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38455" algn="l"/>
              </a:tabLst>
            </a:pPr>
            <a:r>
              <a:rPr sz="2400" b="1">
                <a:latin typeface="Arial"/>
              </a:rPr>
              <a:t>A reusable live order engine for any hyperlocal marketplace</a:t>
            </a:r>
            <a:endParaRPr sz="3050">
              <a:latin typeface="Trebuchet MS"/>
              <a:cs typeface="Trebuchet MS"/>
            </a:endParaRPr>
          </a:p>
          <a:p>
            <a:pPr marL="338455" indent="-32575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38455" algn="l"/>
              </a:tabLst>
            </a:pPr>
            <a:r>
              <a:rPr sz="2400" b="0">
                <a:latin typeface="Arial"/>
              </a:rPr>
              <a:t>Open reference implementation of ranking, ETA, matching, fraud &amp; forecasting</a:t>
            </a:r>
          </a:p>
          <a:p>
            <a:pPr marL="338455" indent="-32575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38455" algn="l"/>
              </a:tabLst>
            </a:pPr>
            <a:r>
              <a:rPr sz="2400" b="0">
                <a:latin typeface="Arial"/>
              </a:rPr>
              <a:t>A template for kirana digitisation others can extend (POS, credit, WhatsApp)</a:t>
            </a:r>
          </a:p>
          <a:p>
            <a:pPr marL="338455" indent="-32575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38455" algn="l"/>
              </a:tabLst>
            </a:pPr>
            <a:r>
              <a:rPr sz="2400" b="0">
                <a:latin typeface="Arial"/>
              </a:rPr>
              <a:t>Learning: real-time systems design, algorithms and honest UX at production quality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110" dirty="0"/>
              <a:t>16</a:t>
            </a:fld>
            <a:endParaRPr spc="1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354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Path</a:t>
            </a:r>
            <a:r>
              <a:rPr spc="75" dirty="0"/>
              <a:t> </a:t>
            </a:r>
            <a:r>
              <a:rPr spc="195" dirty="0"/>
              <a:t>Forward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33220"/>
            <a:ext cx="10293350" cy="1925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1747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>
                <a:latin typeface="Arial"/>
              </a:rPr>
              <a:t>Yes — moving from prototype to product:</a:t>
            </a:r>
            <a:endParaRPr sz="3200">
              <a:latin typeface="Trebuchet MS"/>
              <a:cs typeface="Trebuchet MS"/>
            </a:endParaRPr>
          </a:p>
          <a:p>
            <a:pPr marL="355600" marR="11747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0">
                <a:latin typeface="Arial"/>
              </a:rPr>
              <a:t>Prototype → production platform (backend, payments, maps)</a:t>
            </a:r>
          </a:p>
          <a:p>
            <a:pPr marL="355600" marR="11747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0">
                <a:latin typeface="Arial"/>
              </a:rPr>
              <a:t>Pilot → paid deployment with 10–20 shops in Ahmedabad</a:t>
            </a:r>
          </a:p>
          <a:p>
            <a:pPr marL="355600" marR="11747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0">
                <a:latin typeface="Arial"/>
              </a:rPr>
              <a:t>Patent filing for the stock-lifecycle &amp; ranking methods</a:t>
            </a:r>
          </a:p>
          <a:p>
            <a:pPr marL="355600" marR="11747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0">
                <a:latin typeface="Arial"/>
              </a:rPr>
              <a:t>Startup path — city-scale expansion and white-label storefronts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110" dirty="0"/>
              <a:t>17</a:t>
            </a:fld>
            <a:endParaRPr spc="1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96590">
              <a:lnSpc>
                <a:spcPct val="100000"/>
              </a:lnSpc>
              <a:spcBef>
                <a:spcPts val="100"/>
              </a:spcBef>
            </a:pPr>
            <a:r>
              <a:rPr spc="229" dirty="0"/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36776"/>
            <a:ext cx="10799064" cy="4407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Arial"/>
              </a:rPr>
              <a:t>RedSeer Consulting — India Quick Commerce Market Report</a:t>
            </a:r>
          </a:p>
          <a:p>
            <a:r>
              <a:rPr sz="2000" b="0">
                <a:latin typeface="Arial"/>
              </a:rPr>
              <a:t>https://www.redseer.com/newsletters/quick-commerce-in-india</a:t>
            </a:r>
          </a:p>
          <a:p>
            <a:r>
              <a:rPr sz="2400" b="1">
                <a:latin typeface="Arial"/>
              </a:rPr>
              <a:t>IBEF — Indian Retail Industry Report</a:t>
            </a:r>
          </a:p>
          <a:p>
            <a:r>
              <a:rPr sz="2000" b="0">
                <a:latin typeface="Arial"/>
              </a:rPr>
              <a:t>https://www.ibef.org/industry/retail-india-presentation</a:t>
            </a:r>
          </a:p>
          <a:p>
            <a:r>
              <a:rPr sz="2400" b="1">
                <a:latin typeface="Arial"/>
              </a:rPr>
              <a:t>Economic Times Retail — dark-store expansion &amp; unit economics</a:t>
            </a:r>
          </a:p>
          <a:p>
            <a:r>
              <a:rPr sz="2000" b="0">
                <a:latin typeface="Arial"/>
              </a:rPr>
              <a:t>https://retail.economictimes.indiatimes.com</a:t>
            </a:r>
          </a:p>
          <a:p>
            <a:r>
              <a:rPr sz="2400" b="1">
                <a:latin typeface="Arial"/>
              </a:rPr>
              <a:t>Live demo — near-kart-iota.vercel.app</a:t>
            </a:r>
          </a:p>
          <a:p>
            <a:r>
              <a:rPr sz="2000" b="0">
                <a:latin typeface="Arial"/>
              </a:rPr>
              <a:t>Code — github.com/codewitharyan-01/near-kart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110" dirty="0"/>
              <a:t>18</a:t>
            </a:fld>
            <a:endParaRPr spc="1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7570" y="2235200"/>
            <a:ext cx="806894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b="1" spc="1285" dirty="0">
                <a:latin typeface="Trebuchet MS"/>
                <a:cs typeface="Trebuchet MS"/>
              </a:rPr>
              <a:t>THANK</a:t>
            </a:r>
            <a:r>
              <a:rPr sz="9600" b="1" spc="445" dirty="0">
                <a:latin typeface="Trebuchet MS"/>
                <a:cs typeface="Trebuchet MS"/>
              </a:rPr>
              <a:t> </a:t>
            </a:r>
            <a:r>
              <a:rPr sz="9600" b="1" spc="1065" dirty="0">
                <a:latin typeface="Trebuchet MS"/>
                <a:cs typeface="Trebuchet MS"/>
              </a:rPr>
              <a:t>YOU</a:t>
            </a:r>
            <a:endParaRPr sz="9600">
              <a:latin typeface="Trebuchet MS"/>
              <a:cs typeface="Trebuchet MS"/>
            </a:endParaRPr>
          </a:p>
          <a:p>
            <a:r>
              <a:rPr sz="2000">
                <a:latin typeface="Arial"/>
              </a:rPr>
              <a:t>NearKart — near-kart-iota.vercel.app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spc="110" dirty="0"/>
              <a:t>9</a:t>
            </a:fld>
            <a:endParaRPr spc="1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0629" y="309880"/>
            <a:ext cx="7180580" cy="10744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092325" marR="5080" indent="-2080260">
              <a:lnSpc>
                <a:spcPct val="101499"/>
              </a:lnSpc>
              <a:spcBef>
                <a:spcPts val="65"/>
              </a:spcBef>
            </a:pPr>
            <a:r>
              <a:rPr sz="3400" b="1">
                <a:latin typeface="Arial"/>
              </a:rPr>
              <a:t>Project Work to be accomplished (2 of 2)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755650" y="1746250"/>
            <a:ext cx="11043285" cy="402145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b="1">
                <a:latin typeface="Arial"/>
              </a:rPr>
              <a:t>Ahmedabad pilot (months 4–6):</a:t>
            </a:r>
            <a:endParaRPr sz="2650">
              <a:latin typeface="Trebuchet MS"/>
              <a:cs typeface="Trebuchet MS"/>
            </a:endParaRPr>
          </a:p>
          <a:p>
            <a:pPr marL="296545" indent="-28384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b="0">
                <a:latin typeface="Arial"/>
              </a:rPr>
              <a:t>Onboard 10–20 shops in one locality with rider onboarding</a:t>
            </a:r>
          </a:p>
          <a:p>
            <a:pPr marL="296545" indent="-28384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b="0">
                <a:latin typeface="Arial"/>
              </a:rPr>
              <a:t>Payout settlements, dispute handling and verification workflows</a:t>
            </a:r>
          </a:p>
          <a:p>
            <a:pPr marL="296545" indent="-28384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b="0">
                <a:latin typeface="Arial"/>
              </a:rPr>
              <a:t>Scale (month 6+): rider batching, demand forecasting on real data</a:t>
            </a:r>
          </a:p>
          <a:p>
            <a:pPr marL="296545" indent="-28384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6545" algn="l"/>
              </a:tabLst>
            </a:pPr>
            <a:r>
              <a:rPr sz="2400" b="0">
                <a:latin typeface="Arial"/>
              </a:rPr>
              <a:t>POS integrations, shop credit and white-label storefronts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481</Words>
  <Application>Microsoft Office PowerPoint</Application>
  <PresentationFormat>Widescreen</PresentationFormat>
  <Paragraphs>123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 MT</vt:lpstr>
      <vt:lpstr>Calibri</vt:lpstr>
      <vt:lpstr>Times New Roman</vt:lpstr>
      <vt:lpstr>Trebuchet MS</vt:lpstr>
      <vt:lpstr>Office Theme</vt:lpstr>
      <vt:lpstr>SSIP Presentation Guidelines</vt:lpstr>
      <vt:lpstr>Project / Idea Title</vt:lpstr>
      <vt:lpstr>Outline</vt:lpstr>
      <vt:lpstr>Team Strength</vt:lpstr>
      <vt:lpstr>Brief Description</vt:lpstr>
      <vt:lpstr>Value Proposition</vt:lpstr>
      <vt:lpstr>Market Survey</vt:lpstr>
      <vt:lpstr>Current Status of Project</vt:lpstr>
      <vt:lpstr>Project Work to be accomplished (3 to 4 slides)</vt:lpstr>
      <vt:lpstr>Proposed Solution</vt:lpstr>
      <vt:lpstr>Innovation in Proposed Solution</vt:lpstr>
      <vt:lpstr>Fund Requirements Total cost (including consumables, non consumables, recurring and non recurring): RS.</vt:lpstr>
      <vt:lpstr>Materials / Components</vt:lpstr>
      <vt:lpstr>Other Expenses</vt:lpstr>
      <vt:lpstr>Outcome</vt:lpstr>
      <vt:lpstr>Path Forward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Automatic Drip Irrigation System</dc:title>
  <dc:creator>JAIMIK</dc:creator>
  <cp:lastModifiedBy>lenovo</cp:lastModifiedBy>
  <cp:revision>4</cp:revision>
  <dcterms:created xsi:type="dcterms:W3CDTF">2025-07-11T05:38:34Z</dcterms:created>
  <dcterms:modified xsi:type="dcterms:W3CDTF">2026-09-30T05:46:45Z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2021-07-20T00:00:00Z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5.1</vt:lpwstr>
  </property>
  <property fmtid="{D5CDD505-2E9C-101B-9397-08002B2CF9AE}" pid="5" name="LastSaved">
    <vt:filetime>2021-07-20T00:00:00Z</vt:filetime>
  </property>
</Properties>
</file>